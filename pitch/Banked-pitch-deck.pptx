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pressure to increase trade size after a win comes from the founder's experience and is the product hypothesis. Barber and Odean analyzed 66,465 US stock brokerage households from 1991 to 1996; their most active group returned 11.4% annually versus 17.9% for the market. The study is not about Solana, post-trade allocation, or Banked's effectiveness. Source: https://faculty.haas.berkeley.edu/odean/Papers%20current%20versions/Individual_Investor_Performance_Final.pdf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example: the trader sets 10 SOL to keep in the wallet. At a 9 SOL wallet balance, Banked calculates zero to sell. At 11 SOL, it calculates 1 SOL of excess. This threshold is not cost-basis accounting and does not prove the excess came from a winning trade. In the simulation, 1 SOL produces synthetic proceeds of 125.030864 USDC. The 20/20/60 rule budgets those proceeds for SPYx, JUP, and retained USDC. Live execution still requires a wallet signature; purchases are separate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Banked interface. The user sets the SOL balance to keep, saves a paused rule, then activates it when ready. An active rule still requires explicit sale review and signing. The product can also import a detected finalized exit, but that is retrospective allocation. The screenshot uses simulation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recording only the SPYx purchase, the dashboard shows 25.006172 USDC routed there, the JUP budget awaiting action, and 75.01852 USDC planned for retention. These are saved operation receipts, not a current wallet balance. Simulation purchases use their allocated budget as a synthetic debit.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uses the founder's own experience: trading size increased faster than readiness for the emotional pressure. This is a personal observation, not a quantified claim about all traders. Banked's proposed discipline is to decide the split before the sale and retain a visible record of any unfinished destination. In the demo, completed simulation steps survive refresh. Live wallet execution remains gated.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Solana allows the intended flow to keep SOL, USDC, and tokenized stocks in the user's wallet with on-chain transaction evidence. xStocks launched on Solana in June 2025, according to the Solana Foundation. Availability and eligibility depend on the issuer, market, and jurisdiction. Banked's current demo is simulation. An in-app sale can associate the selected rule with the connected wallet, but live execution remains gated. Purchases require separate wallet signatures. An external sale requires a manual scan, review, and rule application. Source: https://solana.com/id/news/case-study-xstocks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entry point, not TAM: the Solana Foundation reported more than 190,000 xStocks holders on Solana in August 2026. These are holder accounts or addresses, not necessarily unique people, active SOL traders, eligible customers, or Banked prospects. Two percent conversion is an illustrative scenario, not a forecast. The overlap between active SOL exit traders and xStocks holders, user willingness to pay, reachability, and jurisdictional eligibility require validation. Source: https://solana.com/news/solana-ecosystem-roundup-august-2026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proposed subscription model, not current revenue. The free tier would retain simple rule planning and receipts. The $8 monthly Pro tier is a price to test after live wallet-connected monitoring and alerts are validated and built. Subscription revenue aligns Banked with user discipline rather than maximizing trading volume. The scenario assumes 2% of the 190,000 xStocks holder proxy becomes 3,800 paying users: 3,800 times $8 is $30,400 monthly revenue. With assumed $20,000 monthly fixed costs and $1 monthly variable cost per paying user, monthly operating surplus is $6,600 before acquisition, taxes, and other unmodeled costs. At these assumptions operating break-even is 2,858 paying users. Conversion, price, churn, acquisition cost, actual service cost, eligibility, and premium feature demand are not validated. Do not call Banked profitable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the working browser simulation. Record the simulated 1 SOL sale, complete SPYx, refresh, resume JUP, and show the dashboard. The 10 SOL principal in slide two is an illustrative starting position outside Banked's tracking; Banked does not calculate gains. The demo proves product behavior in simulation, not live investment execution. Next evidence: a permitted wallet transaction with exact reconciliation, interviews with active SOL traders, and paid demand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faculty.haas.berkeley.edu/odean/Papers%20current%20versions/Individual_Investor_Performance_Final.pdf"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solana.com/id/news/case-study-xstocks"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solana.com/news/solana-ecosystem-roundup-august-2026"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D10"/>
        </a:solidFill>
      </p:bgPr>
    </p:bg>
    <p:spTree>
      <p:nvGrpSpPr>
        <p:cNvPr id="1" name=""/>
        <p:cNvGrpSpPr/>
        <p:nvPr/>
      </p:nvGrpSpPr>
      <p:grpSpPr>
        <a:xfrm>
          <a:off x="0" y="0"/>
          <a:ext cx="0" cy="0"/>
          <a:chOff x="0" y="0"/>
          <a:chExt cx="0" cy="0"/>
        </a:xfrm>
      </p:grpSpPr>
      <p:sp>
        <p:nvSpPr>
          <p:cNvPr id="2" name="Text 0"/>
          <p:cNvSpPr/>
          <p:nvPr/>
        </p:nvSpPr>
        <p:spPr>
          <a:xfrm>
            <a:off x="594360" y="320040"/>
            <a:ext cx="1463040" cy="320040"/>
          </a:xfrm>
          <a:prstGeom prst="rect">
            <a:avLst/>
          </a:prstGeom>
          <a:noFill/>
          <a:ln/>
        </p:spPr>
        <p:txBody>
          <a:bodyPr wrap="square" lIns="0" tIns="0" rIns="0" bIns="0" rtlCol="0" anchor="ctr">
            <a:normAutofit/>
          </a:bodyPr>
          <a:lstStyle/>
          <a:p>
            <a:pPr indent="0" marL="0">
              <a:buNone/>
            </a:pPr>
            <a:r>
              <a:rPr lang="en-US" sz="1700" b="1" dirty="0">
                <a:solidFill>
                  <a:srgbClr val="F2F0EA"/>
                </a:solidFill>
                <a:latin typeface="Arial" pitchFamily="34" charset="0"/>
                <a:ea typeface="Arial" pitchFamily="34" charset="-122"/>
                <a:cs typeface="Arial" pitchFamily="34" charset="-120"/>
              </a:rPr>
              <a:t>BANKED</a:t>
            </a:r>
            <a:endParaRPr lang="en-US" sz="1700" dirty="0"/>
          </a:p>
        </p:txBody>
      </p:sp>
      <p:sp>
        <p:nvSpPr>
          <p:cNvPr id="3" name="Text 1"/>
          <p:cNvSpPr/>
          <p:nvPr/>
        </p:nvSpPr>
        <p:spPr>
          <a:xfrm>
            <a:off x="621792" y="1234440"/>
            <a:ext cx="7772400" cy="1874520"/>
          </a:xfrm>
          <a:prstGeom prst="rect">
            <a:avLst/>
          </a:prstGeom>
          <a:noFill/>
          <a:ln/>
        </p:spPr>
        <p:txBody>
          <a:bodyPr wrap="square" lIns="0" tIns="0" rIns="0" bIns="0" rtlCol="0" anchor="t">
            <a:normAutofit/>
          </a:bodyPr>
          <a:lstStyle/>
          <a:p>
            <a:pPr indent="0" marL="0">
              <a:buNone/>
            </a:pPr>
            <a:r>
              <a:rPr lang="en-US" sz="5100" b="1" spc="-140" kern="0" dirty="0">
                <a:solidFill>
                  <a:srgbClr val="F2F0EA"/>
                </a:solidFill>
                <a:latin typeface="Arial" pitchFamily="34" charset="0"/>
                <a:ea typeface="Arial" pitchFamily="34" charset="-122"/>
                <a:cs typeface="Arial" pitchFamily="34" charset="-120"/>
              </a:rPr>
              <a:t>One trade wins.</a:t>
            </a:r>
            <a:endParaRPr lang="en-US" sz="5100" dirty="0"/>
          </a:p>
          <a:p>
            <a:pPr indent="0" marL="0">
              <a:buNone/>
            </a:pPr>
            <a:r>
              <a:rPr lang="en-US" sz="5100" b="1" spc="-140" kern="0" dirty="0">
                <a:solidFill>
                  <a:srgbClr val="F2F0EA"/>
                </a:solidFill>
                <a:latin typeface="Arial" pitchFamily="34" charset="0"/>
                <a:ea typeface="Arial" pitchFamily="34" charset="-122"/>
                <a:cs typeface="Arial" pitchFamily="34" charset="-120"/>
              </a:rPr>
              <a:t>The next one can erase it.</a:t>
            </a:r>
            <a:endParaRPr lang="en-US" sz="5100" dirty="0"/>
          </a:p>
        </p:txBody>
      </p:sp>
      <p:sp>
        <p:nvSpPr>
          <p:cNvPr id="4" name="Text 2"/>
          <p:cNvSpPr/>
          <p:nvPr/>
        </p:nvSpPr>
        <p:spPr>
          <a:xfrm>
            <a:off x="640080" y="3429000"/>
            <a:ext cx="6812280" cy="868680"/>
          </a:xfrm>
          <a:prstGeom prst="rect">
            <a:avLst/>
          </a:prstGeom>
          <a:noFill/>
          <a:ln/>
        </p:spPr>
        <p:txBody>
          <a:bodyPr wrap="square" lIns="0" tIns="0" rIns="0" bIns="0" rtlCol="0" anchor="ctr">
            <a:normAutofit/>
          </a:bodyPr>
          <a:lstStyle/>
          <a:p>
            <a:pPr indent="0" marL="0">
              <a:buNone/>
            </a:pPr>
            <a:r>
              <a:rPr lang="en-US" sz="2300" dirty="0">
                <a:solidFill>
                  <a:srgbClr val="A8A39A"/>
                </a:solidFill>
                <a:latin typeface="Arial" pitchFamily="34" charset="0"/>
                <a:ea typeface="Arial" pitchFamily="34" charset="-122"/>
                <a:cs typeface="Arial" pitchFamily="34" charset="-120"/>
              </a:rPr>
              <a:t>As the position grows, the next trade feels easier to size up. Gains without a plan stay exposed.</a:t>
            </a:r>
            <a:endParaRPr lang="en-US" sz="2300" dirty="0"/>
          </a:p>
        </p:txBody>
      </p:sp>
      <p:sp>
        <p:nvSpPr>
          <p:cNvPr id="5" name="Shape 3"/>
          <p:cNvSpPr/>
          <p:nvPr/>
        </p:nvSpPr>
        <p:spPr>
          <a:xfrm>
            <a:off x="8275320" y="1490472"/>
            <a:ext cx="3182112" cy="3639312"/>
          </a:xfrm>
          <a:prstGeom prst="rect">
            <a:avLst/>
          </a:prstGeom>
          <a:solidFill>
            <a:srgbClr val="12161B"/>
          </a:solidFill>
          <a:ln w="11430">
            <a:solidFill>
              <a:srgbClr val="303740"/>
            </a:solidFill>
            <a:prstDash val="solid"/>
          </a:ln>
        </p:spPr>
      </p:sp>
      <p:sp>
        <p:nvSpPr>
          <p:cNvPr id="6" name="Text 4"/>
          <p:cNvSpPr/>
          <p:nvPr/>
        </p:nvSpPr>
        <p:spPr>
          <a:xfrm>
            <a:off x="8613648" y="1819656"/>
            <a:ext cx="2103120" cy="237744"/>
          </a:xfrm>
          <a:prstGeom prst="rect">
            <a:avLst/>
          </a:prstGeom>
          <a:noFill/>
          <a:ln/>
        </p:spPr>
        <p:txBody>
          <a:bodyPr wrap="square" lIns="0" tIns="0" rIns="0" bIns="0" rtlCol="0" anchor="ctr">
            <a:normAutofit/>
          </a:bodyPr>
          <a:lstStyle/>
          <a:p>
            <a:pPr indent="0" marL="0">
              <a:buNone/>
            </a:pPr>
            <a:r>
              <a:rPr lang="en-US" sz="1100" b="1" spc="150" kern="0" dirty="0">
                <a:solidFill>
                  <a:srgbClr val="D4A84F"/>
                </a:solidFill>
                <a:latin typeface="Arial" pitchFamily="34" charset="0"/>
                <a:ea typeface="Arial" pitchFamily="34" charset="-122"/>
                <a:cs typeface="Arial" pitchFamily="34" charset="-120"/>
              </a:rPr>
              <a:t>THE CYCLE</a:t>
            </a:r>
            <a:endParaRPr lang="en-US" sz="1100" dirty="0"/>
          </a:p>
        </p:txBody>
      </p:sp>
      <p:sp>
        <p:nvSpPr>
          <p:cNvPr id="7" name="Text 5"/>
          <p:cNvSpPr/>
          <p:nvPr/>
        </p:nvSpPr>
        <p:spPr>
          <a:xfrm>
            <a:off x="8613648" y="2286000"/>
            <a:ext cx="2542032" cy="512064"/>
          </a:xfrm>
          <a:prstGeom prst="rect">
            <a:avLst/>
          </a:prstGeom>
          <a:noFill/>
          <a:ln/>
        </p:spPr>
        <p:txBody>
          <a:bodyPr wrap="square" lIns="0" tIns="0" rIns="0" bIns="0" rtlCol="0" anchor="ctr">
            <a:normAutofit/>
          </a:bodyPr>
          <a:lstStyle/>
          <a:p>
            <a:pPr indent="0" marL="0">
              <a:buNone/>
            </a:pPr>
            <a:r>
              <a:rPr lang="en-US" sz="3000" b="1" dirty="0">
                <a:solidFill>
                  <a:srgbClr val="78C49A"/>
                </a:solidFill>
                <a:latin typeface="Arial" pitchFamily="34" charset="0"/>
                <a:ea typeface="Arial" pitchFamily="34" charset="-122"/>
                <a:cs typeface="Arial" pitchFamily="34" charset="-120"/>
              </a:rPr>
              <a:t>Win 1 SOL</a:t>
            </a:r>
            <a:endParaRPr lang="en-US" sz="3000" dirty="0"/>
          </a:p>
        </p:txBody>
      </p:sp>
      <p:sp>
        <p:nvSpPr>
          <p:cNvPr id="8" name="Text 6"/>
          <p:cNvSpPr/>
          <p:nvPr/>
        </p:nvSpPr>
        <p:spPr>
          <a:xfrm>
            <a:off x="8613648" y="3127248"/>
            <a:ext cx="2542032" cy="512064"/>
          </a:xfrm>
          <a:prstGeom prst="rect">
            <a:avLst/>
          </a:prstGeom>
          <a:noFill/>
          <a:ln/>
        </p:spPr>
        <p:txBody>
          <a:bodyPr wrap="square" lIns="0" tIns="0" rIns="0" bIns="0" rtlCol="0" anchor="ctr">
            <a:normAutofit/>
          </a:bodyPr>
          <a:lstStyle/>
          <a:p>
            <a:pPr indent="0" marL="0">
              <a:buNone/>
            </a:pPr>
            <a:r>
              <a:rPr lang="en-US" sz="3000" b="1" dirty="0">
                <a:solidFill>
                  <a:srgbClr val="F2F0EA"/>
                </a:solidFill>
                <a:latin typeface="Arial" pitchFamily="34" charset="0"/>
                <a:ea typeface="Arial" pitchFamily="34" charset="-122"/>
                <a:cs typeface="Arial" pitchFamily="34" charset="-120"/>
              </a:rPr>
              <a:t>Size up</a:t>
            </a:r>
            <a:endParaRPr lang="en-US" sz="3000" dirty="0"/>
          </a:p>
        </p:txBody>
      </p:sp>
      <p:sp>
        <p:nvSpPr>
          <p:cNvPr id="9" name="Text 7"/>
          <p:cNvSpPr/>
          <p:nvPr/>
        </p:nvSpPr>
        <p:spPr>
          <a:xfrm>
            <a:off x="8613648" y="3968496"/>
            <a:ext cx="2542032" cy="512064"/>
          </a:xfrm>
          <a:prstGeom prst="rect">
            <a:avLst/>
          </a:prstGeom>
          <a:noFill/>
          <a:ln/>
        </p:spPr>
        <p:txBody>
          <a:bodyPr wrap="square" lIns="0" tIns="0" rIns="0" bIns="0" rtlCol="0" anchor="ctr">
            <a:normAutofit/>
          </a:bodyPr>
          <a:lstStyle/>
          <a:p>
            <a:pPr indent="0" marL="0">
              <a:buNone/>
            </a:pPr>
            <a:r>
              <a:rPr lang="en-US" sz="3000" b="1" dirty="0">
                <a:solidFill>
                  <a:srgbClr val="D4A84F"/>
                </a:solidFill>
                <a:latin typeface="Arial" pitchFamily="34" charset="0"/>
                <a:ea typeface="Arial" pitchFamily="34" charset="-122"/>
                <a:cs typeface="Arial" pitchFamily="34" charset="-120"/>
              </a:rPr>
              <a:t>Risk the gain</a:t>
            </a:r>
            <a:endParaRPr lang="en-US" sz="3000" dirty="0"/>
          </a:p>
        </p:txBody>
      </p:sp>
      <p:sp>
        <p:nvSpPr>
          <p:cNvPr id="10" name="Text 8"/>
          <p:cNvSpPr/>
          <p:nvPr/>
        </p:nvSpPr>
        <p:spPr>
          <a:xfrm>
            <a:off x="640080" y="5650992"/>
            <a:ext cx="10881360" cy="347472"/>
          </a:xfrm>
          <a:prstGeom prst="rect">
            <a:avLst/>
          </a:prstGeom>
          <a:noFill/>
          <a:ln/>
        </p:spPr>
        <p:txBody>
          <a:bodyPr wrap="square" lIns="0" tIns="0" rIns="0" bIns="0" rtlCol="0" anchor="ctr">
            <a:normAutofit/>
          </a:bodyPr>
          <a:lstStyle/>
          <a:p>
            <a:pPr indent="0" marL="0">
              <a:buNone/>
            </a:pPr>
            <a:r>
              <a:rPr lang="en-US" sz="1700" dirty="0">
                <a:solidFill>
                  <a:srgbClr val="F2F0EA"/>
                </a:solidFill>
                <a:latin typeface="Arial" pitchFamily="34" charset="0"/>
                <a:ea typeface="Arial" pitchFamily="34" charset="-122"/>
                <a:cs typeface="Arial" pitchFamily="34" charset="-120"/>
              </a:rPr>
              <a:t>Most active stock-trading households: 11.4% annual return vs 17.9% market, 1991–96.</a:t>
            </a:r>
            <a:endParaRPr lang="en-US" sz="1700" dirty="0"/>
          </a:p>
        </p:txBody>
      </p:sp>
      <p:sp>
        <p:nvSpPr>
          <p:cNvPr id="11" name="Text 9">
            <a:hlinkClick r:id="rId1" tooltip=""/>
          </p:cNvPr>
          <p:cNvSpPr/>
          <p:nvPr/>
        </p:nvSpPr>
        <p:spPr>
          <a:xfrm>
            <a:off x="640080" y="6053328"/>
            <a:ext cx="8138160" cy="274320"/>
          </a:xfrm>
          <a:prstGeom prst="rect">
            <a:avLst/>
          </a:prstGeom>
          <a:noFill/>
          <a:ln/>
        </p:spPr>
        <p:txBody>
          <a:bodyPr wrap="square" lIns="0" tIns="0" rIns="0" bIns="0" rtlCol="0" anchor="ctr">
            <a:normAutofit/>
          </a:bodyPr>
          <a:lstStyle/>
          <a:p>
            <a:pPr indent="0" marL="0">
              <a:buNone/>
            </a:pPr>
            <a:r>
              <a:rPr lang="en-US" sz="1300" u="sng" dirty="0">
                <a:solidFill>
                  <a:srgbClr val="A8A39A"/>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Barber &amp; Odean, Journal of Finance (2000)</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D10"/>
        </a:solidFill>
      </p:bgPr>
    </p:bg>
    <p:spTree>
      <p:nvGrpSpPr>
        <p:cNvPr id="1" name=""/>
        <p:cNvGrpSpPr/>
        <p:nvPr/>
      </p:nvGrpSpPr>
      <p:grpSpPr>
        <a:xfrm>
          <a:off x="0" y="0"/>
          <a:ext cx="0" cy="0"/>
          <a:chOff x="0" y="0"/>
          <a:chExt cx="0" cy="0"/>
        </a:xfrm>
      </p:grpSpPr>
      <p:sp>
        <p:nvSpPr>
          <p:cNvPr id="2" name="Text 0"/>
          <p:cNvSpPr/>
          <p:nvPr/>
        </p:nvSpPr>
        <p:spPr>
          <a:xfrm>
            <a:off x="594360" y="320040"/>
            <a:ext cx="1463040" cy="320040"/>
          </a:xfrm>
          <a:prstGeom prst="rect">
            <a:avLst/>
          </a:prstGeom>
          <a:noFill/>
          <a:ln/>
        </p:spPr>
        <p:txBody>
          <a:bodyPr wrap="square" lIns="0" tIns="0" rIns="0" bIns="0" rtlCol="0" anchor="ctr">
            <a:normAutofit/>
          </a:bodyPr>
          <a:lstStyle/>
          <a:p>
            <a:pPr indent="0" marL="0">
              <a:buNone/>
            </a:pPr>
            <a:r>
              <a:rPr lang="en-US" sz="1700" b="1" dirty="0">
                <a:solidFill>
                  <a:srgbClr val="F2F0EA"/>
                </a:solidFill>
                <a:latin typeface="Arial" pitchFamily="34" charset="0"/>
                <a:ea typeface="Arial" pitchFamily="34" charset="-122"/>
                <a:cs typeface="Arial" pitchFamily="34" charset="-120"/>
              </a:rPr>
              <a:t>BANKED</a:t>
            </a:r>
            <a:endParaRPr lang="en-US" sz="1700" dirty="0"/>
          </a:p>
        </p:txBody>
      </p:sp>
      <p:sp>
        <p:nvSpPr>
          <p:cNvPr id="3" name="Text 1"/>
          <p:cNvSpPr/>
          <p:nvPr/>
        </p:nvSpPr>
        <p:spPr>
          <a:xfrm>
            <a:off x="621792" y="1051560"/>
            <a:ext cx="10927080" cy="1051560"/>
          </a:xfrm>
          <a:prstGeom prst="rect">
            <a:avLst/>
          </a:prstGeom>
          <a:noFill/>
          <a:ln/>
        </p:spPr>
        <p:txBody>
          <a:bodyPr wrap="square" lIns="0" tIns="0" rIns="0" bIns="0" rtlCol="0" anchor="t">
            <a:normAutofit/>
          </a:bodyPr>
          <a:lstStyle/>
          <a:p>
            <a:pPr indent="0" marL="0">
              <a:buNone/>
            </a:pPr>
            <a:r>
              <a:rPr lang="en-US" sz="3900" b="1" spc="-120" kern="0" dirty="0">
                <a:solidFill>
                  <a:srgbClr val="F2F0EA"/>
                </a:solidFill>
                <a:latin typeface="Arial" pitchFamily="34" charset="0"/>
                <a:ea typeface="Arial" pitchFamily="34" charset="-122"/>
                <a:cs typeface="Arial" pitchFamily="34" charset="-120"/>
              </a:rPr>
              <a:t>Keep 10 SOL. Route only the excess.</a:t>
            </a:r>
            <a:endParaRPr lang="en-US" sz="3900" dirty="0"/>
          </a:p>
        </p:txBody>
      </p:sp>
      <p:sp>
        <p:nvSpPr>
          <p:cNvPr id="4" name="Text 2"/>
          <p:cNvSpPr/>
          <p:nvPr/>
        </p:nvSpPr>
        <p:spPr>
          <a:xfrm>
            <a:off x="640080" y="2139696"/>
            <a:ext cx="4663440" cy="292608"/>
          </a:xfrm>
          <a:prstGeom prst="rect">
            <a:avLst/>
          </a:prstGeom>
          <a:noFill/>
          <a:ln/>
        </p:spPr>
        <p:txBody>
          <a:bodyPr wrap="square" lIns="0" tIns="0" rIns="0" bIns="0" rtlCol="0" anchor="ctr">
            <a:normAutofit/>
          </a:bodyPr>
          <a:lstStyle/>
          <a:p>
            <a:pPr indent="0" marL="0">
              <a:buNone/>
            </a:pPr>
            <a:r>
              <a:rPr lang="en-US" sz="1700" dirty="0">
                <a:solidFill>
                  <a:srgbClr val="A8A39A"/>
                </a:solidFill>
                <a:latin typeface="Arial" pitchFamily="34" charset="0"/>
                <a:ea typeface="Arial" pitchFamily="34" charset="-122"/>
                <a:cs typeface="Arial" pitchFamily="34" charset="-120"/>
              </a:rPr>
              <a:t>Wallet at 9 SOL: sell 0</a:t>
            </a:r>
            <a:endParaRPr lang="en-US" sz="1700" dirty="0"/>
          </a:p>
        </p:txBody>
      </p:sp>
      <p:sp>
        <p:nvSpPr>
          <p:cNvPr id="5" name="Text 3"/>
          <p:cNvSpPr/>
          <p:nvPr/>
        </p:nvSpPr>
        <p:spPr>
          <a:xfrm>
            <a:off x="640080" y="2487168"/>
            <a:ext cx="2103120" cy="585216"/>
          </a:xfrm>
          <a:prstGeom prst="rect">
            <a:avLst/>
          </a:prstGeom>
          <a:noFill/>
          <a:ln/>
        </p:spPr>
        <p:txBody>
          <a:bodyPr wrap="square" lIns="0" tIns="0" rIns="0" bIns="0" rtlCol="0" anchor="ctr">
            <a:normAutofit/>
          </a:bodyPr>
          <a:lstStyle/>
          <a:p>
            <a:pPr indent="0" marL="0">
              <a:buNone/>
            </a:pPr>
            <a:r>
              <a:rPr lang="en-US" sz="3600" b="1" dirty="0">
                <a:solidFill>
                  <a:srgbClr val="F2F0EA"/>
                </a:solidFill>
                <a:latin typeface="Arial" pitchFamily="34" charset="0"/>
                <a:ea typeface="Arial" pitchFamily="34" charset="-122"/>
                <a:cs typeface="Arial" pitchFamily="34" charset="-120"/>
              </a:rPr>
              <a:t>11 SOL</a:t>
            </a:r>
            <a:endParaRPr lang="en-US" sz="3600" dirty="0"/>
          </a:p>
        </p:txBody>
      </p:sp>
      <p:sp>
        <p:nvSpPr>
          <p:cNvPr id="6" name="Text 4"/>
          <p:cNvSpPr/>
          <p:nvPr/>
        </p:nvSpPr>
        <p:spPr>
          <a:xfrm>
            <a:off x="2898648" y="2551176"/>
            <a:ext cx="4937760" cy="448056"/>
          </a:xfrm>
          <a:prstGeom prst="rect">
            <a:avLst/>
          </a:prstGeom>
          <a:noFill/>
          <a:ln/>
        </p:spPr>
        <p:txBody>
          <a:bodyPr wrap="square" lIns="0" tIns="0" rIns="0" bIns="0" rtlCol="0" anchor="ctr">
            <a:normAutofit/>
          </a:bodyPr>
          <a:lstStyle/>
          <a:p>
            <a:pPr indent="0" marL="0">
              <a:buNone/>
            </a:pPr>
            <a:r>
              <a:rPr lang="en-US" sz="2500" b="1" dirty="0">
                <a:solidFill>
                  <a:srgbClr val="78C49A"/>
                </a:solidFill>
                <a:latin typeface="Arial" pitchFamily="34" charset="0"/>
                <a:ea typeface="Arial" pitchFamily="34" charset="-122"/>
                <a:cs typeface="Arial" pitchFamily="34" charset="-120"/>
              </a:rPr>
              <a:t>10 SOL stays in wallet</a:t>
            </a:r>
            <a:endParaRPr lang="en-US" sz="2500" dirty="0"/>
          </a:p>
        </p:txBody>
      </p:sp>
      <p:sp>
        <p:nvSpPr>
          <p:cNvPr id="7" name="Text 5"/>
          <p:cNvSpPr/>
          <p:nvPr/>
        </p:nvSpPr>
        <p:spPr>
          <a:xfrm>
            <a:off x="640080" y="3337560"/>
            <a:ext cx="4754880" cy="438912"/>
          </a:xfrm>
          <a:prstGeom prst="rect">
            <a:avLst/>
          </a:prstGeom>
          <a:noFill/>
          <a:ln/>
        </p:spPr>
        <p:txBody>
          <a:bodyPr wrap="square" lIns="0" tIns="0" rIns="0" bIns="0" rtlCol="0" anchor="ctr">
            <a:normAutofit/>
          </a:bodyPr>
          <a:lstStyle/>
          <a:p>
            <a:pPr indent="0" marL="0">
              <a:buNone/>
            </a:pPr>
            <a:r>
              <a:rPr lang="en-US" sz="2500" b="1" dirty="0">
                <a:solidFill>
                  <a:srgbClr val="F2F0EA"/>
                </a:solidFill>
                <a:latin typeface="Arial" pitchFamily="34" charset="0"/>
                <a:ea typeface="Arial" pitchFamily="34" charset="-122"/>
                <a:cs typeface="Arial" pitchFamily="34" charset="-120"/>
              </a:rPr>
              <a:t>1 SOL excess to sell</a:t>
            </a:r>
            <a:endParaRPr lang="en-US" sz="2500" dirty="0"/>
          </a:p>
        </p:txBody>
      </p:sp>
      <p:sp>
        <p:nvSpPr>
          <p:cNvPr id="8" name="Text 6"/>
          <p:cNvSpPr/>
          <p:nvPr/>
        </p:nvSpPr>
        <p:spPr>
          <a:xfrm>
            <a:off x="6291072" y="3273552"/>
            <a:ext cx="4892040" cy="585216"/>
          </a:xfrm>
          <a:prstGeom prst="rect">
            <a:avLst/>
          </a:prstGeom>
          <a:noFill/>
          <a:ln/>
        </p:spPr>
        <p:txBody>
          <a:bodyPr wrap="square" lIns="0" tIns="0" rIns="0" bIns="0" rtlCol="0" anchor="ctr">
            <a:normAutofit/>
          </a:bodyPr>
          <a:lstStyle/>
          <a:p>
            <a:pPr indent="0" marL="0">
              <a:buNone/>
            </a:pPr>
            <a:r>
              <a:rPr lang="en-US" sz="3400" b="1" dirty="0">
                <a:solidFill>
                  <a:srgbClr val="D4A84F"/>
                </a:solidFill>
                <a:latin typeface="Arial" pitchFamily="34" charset="0"/>
                <a:ea typeface="Arial" pitchFamily="34" charset="-122"/>
                <a:cs typeface="Arial" pitchFamily="34" charset="-120"/>
              </a:rPr>
              <a:t>125.030864 USDC</a:t>
            </a:r>
            <a:endParaRPr lang="en-US" sz="3400" dirty="0"/>
          </a:p>
        </p:txBody>
      </p:sp>
      <p:sp>
        <p:nvSpPr>
          <p:cNvPr id="9" name="Shape 7"/>
          <p:cNvSpPr/>
          <p:nvPr/>
        </p:nvSpPr>
        <p:spPr>
          <a:xfrm>
            <a:off x="4846320" y="3611880"/>
            <a:ext cx="1042416" cy="0"/>
          </a:xfrm>
          <a:prstGeom prst="line">
            <a:avLst/>
          </a:prstGeom>
          <a:noFill/>
          <a:ln w="25400">
            <a:solidFill>
              <a:srgbClr val="303740"/>
            </a:solidFill>
            <a:prstDash val="solid"/>
            <a:tailEnd type="triangle"/>
          </a:ln>
        </p:spPr>
      </p:sp>
      <p:sp>
        <p:nvSpPr>
          <p:cNvPr id="10" name="Shape 8"/>
          <p:cNvSpPr/>
          <p:nvPr/>
        </p:nvSpPr>
        <p:spPr>
          <a:xfrm>
            <a:off x="621792" y="4251960"/>
            <a:ext cx="3401568" cy="1536192"/>
          </a:xfrm>
          <a:prstGeom prst="rect">
            <a:avLst/>
          </a:prstGeom>
          <a:solidFill>
            <a:srgbClr val="12161B"/>
          </a:solidFill>
          <a:ln w="11430">
            <a:solidFill>
              <a:srgbClr val="303740"/>
            </a:solidFill>
            <a:prstDash val="solid"/>
          </a:ln>
        </p:spPr>
      </p:sp>
      <p:sp>
        <p:nvSpPr>
          <p:cNvPr id="11" name="Text 9"/>
          <p:cNvSpPr/>
          <p:nvPr/>
        </p:nvSpPr>
        <p:spPr>
          <a:xfrm>
            <a:off x="850392" y="4517136"/>
            <a:ext cx="2651760" cy="237744"/>
          </a:xfrm>
          <a:prstGeom prst="rect">
            <a:avLst/>
          </a:prstGeom>
          <a:noFill/>
          <a:ln/>
        </p:spPr>
        <p:txBody>
          <a:bodyPr wrap="square" lIns="0" tIns="0" rIns="0" bIns="0" rtlCol="0" anchor="ctr">
            <a:normAutofit/>
          </a:bodyPr>
          <a:lstStyle/>
          <a:p>
            <a:pPr indent="0" marL="0">
              <a:buNone/>
            </a:pPr>
            <a:r>
              <a:rPr lang="en-US" sz="1100" b="1" spc="150" kern="0" dirty="0">
                <a:solidFill>
                  <a:srgbClr val="D4A84F"/>
                </a:solidFill>
                <a:latin typeface="Arial" pitchFamily="34" charset="0"/>
                <a:ea typeface="Arial" pitchFamily="34" charset="-122"/>
                <a:cs typeface="Arial" pitchFamily="34" charset="-120"/>
              </a:rPr>
              <a:t>SPYX</a:t>
            </a:r>
            <a:endParaRPr lang="en-US" sz="1100" dirty="0"/>
          </a:p>
        </p:txBody>
      </p:sp>
      <p:sp>
        <p:nvSpPr>
          <p:cNvPr id="12" name="Text 10"/>
          <p:cNvSpPr/>
          <p:nvPr/>
        </p:nvSpPr>
        <p:spPr>
          <a:xfrm>
            <a:off x="850392" y="4855464"/>
            <a:ext cx="1353312" cy="448056"/>
          </a:xfrm>
          <a:prstGeom prst="rect">
            <a:avLst/>
          </a:prstGeom>
          <a:noFill/>
          <a:ln/>
        </p:spPr>
        <p:txBody>
          <a:bodyPr wrap="square" lIns="0" tIns="0" rIns="0" bIns="0" rtlCol="0" anchor="ctr">
            <a:normAutofit/>
          </a:bodyPr>
          <a:lstStyle/>
          <a:p>
            <a:pPr indent="0" marL="0">
              <a:buNone/>
            </a:pPr>
            <a:r>
              <a:rPr lang="en-US" sz="3000" b="1" dirty="0">
                <a:solidFill>
                  <a:srgbClr val="D4A84F"/>
                </a:solidFill>
                <a:latin typeface="Arial" pitchFamily="34" charset="0"/>
                <a:ea typeface="Arial" pitchFamily="34" charset="-122"/>
                <a:cs typeface="Arial" pitchFamily="34" charset="-120"/>
              </a:rPr>
              <a:t>20%</a:t>
            </a:r>
            <a:endParaRPr lang="en-US" sz="3000" dirty="0"/>
          </a:p>
        </p:txBody>
      </p:sp>
      <p:sp>
        <p:nvSpPr>
          <p:cNvPr id="13" name="Text 11"/>
          <p:cNvSpPr/>
          <p:nvPr/>
        </p:nvSpPr>
        <p:spPr>
          <a:xfrm>
            <a:off x="850392" y="5394960"/>
            <a:ext cx="2880360" cy="228600"/>
          </a:xfrm>
          <a:prstGeom prst="rect">
            <a:avLst/>
          </a:prstGeom>
          <a:noFill/>
          <a:ln/>
        </p:spPr>
        <p:txBody>
          <a:bodyPr wrap="square" lIns="0" tIns="0" rIns="0" bIns="0" rtlCol="0" anchor="ctr">
            <a:normAutofit/>
          </a:bodyPr>
          <a:lstStyle/>
          <a:p>
            <a:pPr indent="0" marL="0">
              <a:buNone/>
            </a:pPr>
            <a:r>
              <a:rPr lang="en-US" sz="1400" dirty="0">
                <a:solidFill>
                  <a:srgbClr val="A8A39A"/>
                </a:solidFill>
                <a:latin typeface="Arial" pitchFamily="34" charset="0"/>
                <a:ea typeface="Arial" pitchFamily="34" charset="-122"/>
                <a:cs typeface="Arial" pitchFamily="34" charset="-120"/>
              </a:rPr>
              <a:t>25.006172 USDC</a:t>
            </a:r>
            <a:endParaRPr lang="en-US" sz="1400" dirty="0"/>
          </a:p>
        </p:txBody>
      </p:sp>
      <p:sp>
        <p:nvSpPr>
          <p:cNvPr id="14" name="Shape 12"/>
          <p:cNvSpPr/>
          <p:nvPr/>
        </p:nvSpPr>
        <p:spPr>
          <a:xfrm>
            <a:off x="4425696" y="4251960"/>
            <a:ext cx="3401568" cy="1536192"/>
          </a:xfrm>
          <a:prstGeom prst="rect">
            <a:avLst/>
          </a:prstGeom>
          <a:solidFill>
            <a:srgbClr val="12161B"/>
          </a:solidFill>
          <a:ln w="11430">
            <a:solidFill>
              <a:srgbClr val="303740"/>
            </a:solidFill>
            <a:prstDash val="solid"/>
          </a:ln>
        </p:spPr>
      </p:sp>
      <p:sp>
        <p:nvSpPr>
          <p:cNvPr id="15" name="Text 13"/>
          <p:cNvSpPr/>
          <p:nvPr/>
        </p:nvSpPr>
        <p:spPr>
          <a:xfrm>
            <a:off x="4654296" y="4517136"/>
            <a:ext cx="2651760" cy="237744"/>
          </a:xfrm>
          <a:prstGeom prst="rect">
            <a:avLst/>
          </a:prstGeom>
          <a:noFill/>
          <a:ln/>
        </p:spPr>
        <p:txBody>
          <a:bodyPr wrap="square" lIns="0" tIns="0" rIns="0" bIns="0" rtlCol="0" anchor="ctr">
            <a:normAutofit/>
          </a:bodyPr>
          <a:lstStyle/>
          <a:p>
            <a:pPr indent="0" marL="0">
              <a:buNone/>
            </a:pPr>
            <a:r>
              <a:rPr lang="en-US" sz="1100" b="1" spc="150" kern="0" dirty="0">
                <a:solidFill>
                  <a:srgbClr val="D4A84F"/>
                </a:solidFill>
                <a:latin typeface="Arial" pitchFamily="34" charset="0"/>
                <a:ea typeface="Arial" pitchFamily="34" charset="-122"/>
                <a:cs typeface="Arial" pitchFamily="34" charset="-120"/>
              </a:rPr>
              <a:t>JUP</a:t>
            </a:r>
            <a:endParaRPr lang="en-US" sz="1100" dirty="0"/>
          </a:p>
        </p:txBody>
      </p:sp>
      <p:sp>
        <p:nvSpPr>
          <p:cNvPr id="16" name="Text 14"/>
          <p:cNvSpPr/>
          <p:nvPr/>
        </p:nvSpPr>
        <p:spPr>
          <a:xfrm>
            <a:off x="4654296" y="4855464"/>
            <a:ext cx="1353312" cy="448056"/>
          </a:xfrm>
          <a:prstGeom prst="rect">
            <a:avLst/>
          </a:prstGeom>
          <a:noFill/>
          <a:ln/>
        </p:spPr>
        <p:txBody>
          <a:bodyPr wrap="square" lIns="0" tIns="0" rIns="0" bIns="0" rtlCol="0" anchor="ctr">
            <a:normAutofit/>
          </a:bodyPr>
          <a:lstStyle/>
          <a:p>
            <a:pPr indent="0" marL="0">
              <a:buNone/>
            </a:pPr>
            <a:r>
              <a:rPr lang="en-US" sz="3000" b="1" dirty="0">
                <a:solidFill>
                  <a:srgbClr val="78C49A"/>
                </a:solidFill>
                <a:latin typeface="Arial" pitchFamily="34" charset="0"/>
                <a:ea typeface="Arial" pitchFamily="34" charset="-122"/>
                <a:cs typeface="Arial" pitchFamily="34" charset="-120"/>
              </a:rPr>
              <a:t>20%</a:t>
            </a:r>
            <a:endParaRPr lang="en-US" sz="3000" dirty="0"/>
          </a:p>
        </p:txBody>
      </p:sp>
      <p:sp>
        <p:nvSpPr>
          <p:cNvPr id="17" name="Text 15"/>
          <p:cNvSpPr/>
          <p:nvPr/>
        </p:nvSpPr>
        <p:spPr>
          <a:xfrm>
            <a:off x="4654296" y="5394960"/>
            <a:ext cx="2880360" cy="228600"/>
          </a:xfrm>
          <a:prstGeom prst="rect">
            <a:avLst/>
          </a:prstGeom>
          <a:noFill/>
          <a:ln/>
        </p:spPr>
        <p:txBody>
          <a:bodyPr wrap="square" lIns="0" tIns="0" rIns="0" bIns="0" rtlCol="0" anchor="ctr">
            <a:normAutofit/>
          </a:bodyPr>
          <a:lstStyle/>
          <a:p>
            <a:pPr indent="0" marL="0">
              <a:buNone/>
            </a:pPr>
            <a:r>
              <a:rPr lang="en-US" sz="1400" dirty="0">
                <a:solidFill>
                  <a:srgbClr val="A8A39A"/>
                </a:solidFill>
                <a:latin typeface="Arial" pitchFamily="34" charset="0"/>
                <a:ea typeface="Arial" pitchFamily="34" charset="-122"/>
                <a:cs typeface="Arial" pitchFamily="34" charset="-120"/>
              </a:rPr>
              <a:t>25.006172 USDC</a:t>
            </a:r>
            <a:endParaRPr lang="en-US" sz="1400" dirty="0"/>
          </a:p>
        </p:txBody>
      </p:sp>
      <p:sp>
        <p:nvSpPr>
          <p:cNvPr id="18" name="Shape 16"/>
          <p:cNvSpPr/>
          <p:nvPr/>
        </p:nvSpPr>
        <p:spPr>
          <a:xfrm>
            <a:off x="8229600" y="4251960"/>
            <a:ext cx="3401568" cy="1536192"/>
          </a:xfrm>
          <a:prstGeom prst="rect">
            <a:avLst/>
          </a:prstGeom>
          <a:solidFill>
            <a:srgbClr val="12161B"/>
          </a:solidFill>
          <a:ln w="11430">
            <a:solidFill>
              <a:srgbClr val="303740"/>
            </a:solidFill>
            <a:prstDash val="solid"/>
          </a:ln>
        </p:spPr>
      </p:sp>
      <p:sp>
        <p:nvSpPr>
          <p:cNvPr id="19" name="Text 17"/>
          <p:cNvSpPr/>
          <p:nvPr/>
        </p:nvSpPr>
        <p:spPr>
          <a:xfrm>
            <a:off x="8458200" y="4517136"/>
            <a:ext cx="2651760" cy="237744"/>
          </a:xfrm>
          <a:prstGeom prst="rect">
            <a:avLst/>
          </a:prstGeom>
          <a:noFill/>
          <a:ln/>
        </p:spPr>
        <p:txBody>
          <a:bodyPr wrap="square" lIns="0" tIns="0" rIns="0" bIns="0" rtlCol="0" anchor="ctr">
            <a:normAutofit/>
          </a:bodyPr>
          <a:lstStyle/>
          <a:p>
            <a:pPr indent="0" marL="0">
              <a:buNone/>
            </a:pPr>
            <a:r>
              <a:rPr lang="en-US" sz="1100" b="1" spc="150" kern="0" dirty="0">
                <a:solidFill>
                  <a:srgbClr val="D4A84F"/>
                </a:solidFill>
                <a:latin typeface="Arial" pitchFamily="34" charset="0"/>
                <a:ea typeface="Arial" pitchFamily="34" charset="-122"/>
                <a:cs typeface="Arial" pitchFamily="34" charset="-120"/>
              </a:rPr>
              <a:t>KEEP USDC</a:t>
            </a:r>
            <a:endParaRPr lang="en-US" sz="1100" dirty="0"/>
          </a:p>
        </p:txBody>
      </p:sp>
      <p:sp>
        <p:nvSpPr>
          <p:cNvPr id="20" name="Text 18"/>
          <p:cNvSpPr/>
          <p:nvPr/>
        </p:nvSpPr>
        <p:spPr>
          <a:xfrm>
            <a:off x="8458200" y="4855464"/>
            <a:ext cx="1353312" cy="448056"/>
          </a:xfrm>
          <a:prstGeom prst="rect">
            <a:avLst/>
          </a:prstGeom>
          <a:noFill/>
          <a:ln/>
        </p:spPr>
        <p:txBody>
          <a:bodyPr wrap="square" lIns="0" tIns="0" rIns="0" bIns="0" rtlCol="0" anchor="ctr">
            <a:normAutofit/>
          </a:bodyPr>
          <a:lstStyle/>
          <a:p>
            <a:pPr indent="0" marL="0">
              <a:buNone/>
            </a:pPr>
            <a:r>
              <a:rPr lang="en-US" sz="3000" b="1" dirty="0">
                <a:solidFill>
                  <a:srgbClr val="F2F0EA"/>
                </a:solidFill>
                <a:latin typeface="Arial" pitchFamily="34" charset="0"/>
                <a:ea typeface="Arial" pitchFamily="34" charset="-122"/>
                <a:cs typeface="Arial" pitchFamily="34" charset="-120"/>
              </a:rPr>
              <a:t>60%</a:t>
            </a:r>
            <a:endParaRPr lang="en-US" sz="3000" dirty="0"/>
          </a:p>
        </p:txBody>
      </p:sp>
      <p:sp>
        <p:nvSpPr>
          <p:cNvPr id="21" name="Text 19"/>
          <p:cNvSpPr/>
          <p:nvPr/>
        </p:nvSpPr>
        <p:spPr>
          <a:xfrm>
            <a:off x="8458200" y="5394960"/>
            <a:ext cx="2880360" cy="228600"/>
          </a:xfrm>
          <a:prstGeom prst="rect">
            <a:avLst/>
          </a:prstGeom>
          <a:noFill/>
          <a:ln/>
        </p:spPr>
        <p:txBody>
          <a:bodyPr wrap="square" lIns="0" tIns="0" rIns="0" bIns="0" rtlCol="0" anchor="ctr">
            <a:normAutofit/>
          </a:bodyPr>
          <a:lstStyle/>
          <a:p>
            <a:pPr indent="0" marL="0">
              <a:buNone/>
            </a:pPr>
            <a:r>
              <a:rPr lang="en-US" sz="1400" dirty="0">
                <a:solidFill>
                  <a:srgbClr val="A8A39A"/>
                </a:solidFill>
                <a:latin typeface="Arial" pitchFamily="34" charset="0"/>
                <a:ea typeface="Arial" pitchFamily="34" charset="-122"/>
                <a:cs typeface="Arial" pitchFamily="34" charset="-120"/>
              </a:rPr>
              <a:t>75.01852 USDC</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D10"/>
        </a:solidFill>
      </p:bgPr>
    </p:bg>
    <p:spTree>
      <p:nvGrpSpPr>
        <p:cNvPr id="1" name=""/>
        <p:cNvGrpSpPr/>
        <p:nvPr/>
      </p:nvGrpSpPr>
      <p:grpSpPr>
        <a:xfrm>
          <a:off x="0" y="0"/>
          <a:ext cx="0" cy="0"/>
          <a:chOff x="0" y="0"/>
          <a:chExt cx="0" cy="0"/>
        </a:xfrm>
      </p:grpSpPr>
      <p:sp>
        <p:nvSpPr>
          <p:cNvPr id="2" name="Text 0"/>
          <p:cNvSpPr/>
          <p:nvPr/>
        </p:nvSpPr>
        <p:spPr>
          <a:xfrm>
            <a:off x="594360" y="320040"/>
            <a:ext cx="1463040" cy="320040"/>
          </a:xfrm>
          <a:prstGeom prst="rect">
            <a:avLst/>
          </a:prstGeom>
          <a:noFill/>
          <a:ln/>
        </p:spPr>
        <p:txBody>
          <a:bodyPr wrap="square" lIns="0" tIns="0" rIns="0" bIns="0" rtlCol="0" anchor="ctr">
            <a:normAutofit/>
          </a:bodyPr>
          <a:lstStyle/>
          <a:p>
            <a:pPr indent="0" marL="0">
              <a:buNone/>
            </a:pPr>
            <a:r>
              <a:rPr lang="en-US" sz="1700" b="1" dirty="0">
                <a:solidFill>
                  <a:srgbClr val="F2F0EA"/>
                </a:solidFill>
                <a:latin typeface="Arial" pitchFamily="34" charset="0"/>
                <a:ea typeface="Arial" pitchFamily="34" charset="-122"/>
                <a:cs typeface="Arial" pitchFamily="34" charset="-120"/>
              </a:rPr>
              <a:t>BANKED</a:t>
            </a:r>
            <a:endParaRPr lang="en-US" sz="1700" dirty="0"/>
          </a:p>
        </p:txBody>
      </p:sp>
      <p:sp>
        <p:nvSpPr>
          <p:cNvPr id="3" name="Text 1"/>
          <p:cNvSpPr/>
          <p:nvPr/>
        </p:nvSpPr>
        <p:spPr>
          <a:xfrm>
            <a:off x="621792" y="1051560"/>
            <a:ext cx="10927080" cy="1051560"/>
          </a:xfrm>
          <a:prstGeom prst="rect">
            <a:avLst/>
          </a:prstGeom>
          <a:noFill/>
          <a:ln/>
        </p:spPr>
        <p:txBody>
          <a:bodyPr wrap="square" lIns="0" tIns="0" rIns="0" bIns="0" rtlCol="0" anchor="t">
            <a:normAutofit/>
          </a:bodyPr>
          <a:lstStyle/>
          <a:p>
            <a:pPr indent="0" marL="0">
              <a:buNone/>
            </a:pPr>
            <a:r>
              <a:rPr lang="en-US" sz="4000" b="1" spc="-120" kern="0" dirty="0">
                <a:solidFill>
                  <a:srgbClr val="F2F0EA"/>
                </a:solidFill>
                <a:latin typeface="Arial" pitchFamily="34" charset="0"/>
                <a:ea typeface="Arial" pitchFamily="34" charset="-122"/>
                <a:cs typeface="Arial" pitchFamily="34" charset="-120"/>
              </a:rPr>
              <a:t>Set the balance. Activate the rule.</a:t>
            </a:r>
            <a:endParaRPr lang="en-US" sz="4000" dirty="0"/>
          </a:p>
        </p:txBody>
      </p:sp>
      <p:sp>
        <p:nvSpPr>
          <p:cNvPr id="4" name="Text 2"/>
          <p:cNvSpPr/>
          <p:nvPr/>
        </p:nvSpPr>
        <p:spPr>
          <a:xfrm>
            <a:off x="640080" y="2688336"/>
            <a:ext cx="4480560" cy="411480"/>
          </a:xfrm>
          <a:prstGeom prst="rect">
            <a:avLst/>
          </a:prstGeom>
          <a:noFill/>
          <a:ln/>
        </p:spPr>
        <p:txBody>
          <a:bodyPr wrap="square" lIns="0" tIns="0" rIns="0" bIns="0" rtlCol="0" anchor="ctr">
            <a:normAutofit/>
          </a:bodyPr>
          <a:lstStyle/>
          <a:p>
            <a:pPr indent="0" marL="0">
              <a:buNone/>
            </a:pPr>
            <a:r>
              <a:rPr lang="en-US" sz="2600" b="1" dirty="0">
                <a:solidFill>
                  <a:srgbClr val="F2F0EA"/>
                </a:solidFill>
                <a:latin typeface="Arial" pitchFamily="34" charset="0"/>
                <a:ea typeface="Arial" pitchFamily="34" charset="-122"/>
                <a:cs typeface="Arial" pitchFamily="34" charset="-120"/>
              </a:rPr>
              <a:t>Set SOL to keep.</a:t>
            </a:r>
            <a:endParaRPr lang="en-US" sz="2600" dirty="0"/>
          </a:p>
        </p:txBody>
      </p:sp>
      <p:sp>
        <p:nvSpPr>
          <p:cNvPr id="5" name="Text 3"/>
          <p:cNvSpPr/>
          <p:nvPr/>
        </p:nvSpPr>
        <p:spPr>
          <a:xfrm>
            <a:off x="640080" y="3474720"/>
            <a:ext cx="4389120" cy="411480"/>
          </a:xfrm>
          <a:prstGeom prst="rect">
            <a:avLst/>
          </a:prstGeom>
          <a:noFill/>
          <a:ln/>
        </p:spPr>
        <p:txBody>
          <a:bodyPr wrap="square" lIns="0" tIns="0" rIns="0" bIns="0" rtlCol="0" anchor="ctr">
            <a:normAutofit/>
          </a:bodyPr>
          <a:lstStyle/>
          <a:p>
            <a:pPr indent="0" marL="0">
              <a:buNone/>
            </a:pPr>
            <a:r>
              <a:rPr lang="en-US" sz="2600" b="1" dirty="0">
                <a:solidFill>
                  <a:srgbClr val="F2F0EA"/>
                </a:solidFill>
                <a:latin typeface="Arial" pitchFamily="34" charset="0"/>
                <a:ea typeface="Arial" pitchFamily="34" charset="-122"/>
                <a:cs typeface="Arial" pitchFamily="34" charset="-120"/>
              </a:rPr>
              <a:t>Choose where USDC goes.</a:t>
            </a:r>
            <a:endParaRPr lang="en-US" sz="2600" dirty="0"/>
          </a:p>
        </p:txBody>
      </p:sp>
      <p:sp>
        <p:nvSpPr>
          <p:cNvPr id="6" name="Text 4"/>
          <p:cNvSpPr/>
          <p:nvPr/>
        </p:nvSpPr>
        <p:spPr>
          <a:xfrm>
            <a:off x="640080" y="4261104"/>
            <a:ext cx="4114800" cy="411480"/>
          </a:xfrm>
          <a:prstGeom prst="rect">
            <a:avLst/>
          </a:prstGeom>
          <a:noFill/>
          <a:ln/>
        </p:spPr>
        <p:txBody>
          <a:bodyPr wrap="square" lIns="0" tIns="0" rIns="0" bIns="0" rtlCol="0" anchor="ctr">
            <a:normAutofit/>
          </a:bodyPr>
          <a:lstStyle/>
          <a:p>
            <a:pPr indent="0" marL="0">
              <a:buNone/>
            </a:pPr>
            <a:r>
              <a:rPr lang="en-US" sz="2600" b="1" dirty="0">
                <a:solidFill>
                  <a:srgbClr val="F2F0EA"/>
                </a:solidFill>
                <a:latin typeface="Arial" pitchFamily="34" charset="0"/>
                <a:ea typeface="Arial" pitchFamily="34" charset="-122"/>
                <a:cs typeface="Arial" pitchFamily="34" charset="-120"/>
              </a:rPr>
              <a:t>Review each next step.</a:t>
            </a:r>
            <a:endParaRPr lang="en-US" sz="2600" dirty="0"/>
          </a:p>
        </p:txBody>
      </p:sp>
      <p:sp>
        <p:nvSpPr>
          <p:cNvPr id="7" name="Shape 5"/>
          <p:cNvSpPr/>
          <p:nvPr/>
        </p:nvSpPr>
        <p:spPr>
          <a:xfrm>
            <a:off x="5632704" y="1847088"/>
            <a:ext cx="5861304" cy="4809744"/>
          </a:xfrm>
          <a:prstGeom prst="rect">
            <a:avLst/>
          </a:prstGeom>
          <a:solidFill>
            <a:srgbClr val="12161B"/>
          </a:solidFill>
          <a:ln w="11430">
            <a:solidFill>
              <a:srgbClr val="303740"/>
            </a:solidFill>
            <a:prstDash val="solid"/>
          </a:ln>
        </p:spPr>
      </p:sp>
      <p:pic>
        <p:nvPicPr>
          <p:cNvPr id="8" name="Image 0" descr="D:\Hackathon\BankedStocklana\pitch\rule-ui.png">    </p:cNvPr>
          <p:cNvPicPr>
            <a:picLocks noChangeAspect="1"/>
          </p:cNvPicPr>
          <p:nvPr/>
        </p:nvPicPr>
        <p:blipFill>
          <a:blip r:embed="rId1"/>
          <a:stretch>
            <a:fillRect/>
          </a:stretch>
        </p:blipFill>
        <p:spPr>
          <a:xfrm>
            <a:off x="5705856" y="1920240"/>
            <a:ext cx="5715000" cy="46634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D10"/>
        </a:solidFill>
      </p:bgPr>
    </p:bg>
    <p:spTree>
      <p:nvGrpSpPr>
        <p:cNvPr id="1" name=""/>
        <p:cNvGrpSpPr/>
        <p:nvPr/>
      </p:nvGrpSpPr>
      <p:grpSpPr>
        <a:xfrm>
          <a:off x="0" y="0"/>
          <a:ext cx="0" cy="0"/>
          <a:chOff x="0" y="0"/>
          <a:chExt cx="0" cy="0"/>
        </a:xfrm>
      </p:grpSpPr>
      <p:sp>
        <p:nvSpPr>
          <p:cNvPr id="2" name="Text 0"/>
          <p:cNvSpPr/>
          <p:nvPr/>
        </p:nvSpPr>
        <p:spPr>
          <a:xfrm>
            <a:off x="594360" y="320040"/>
            <a:ext cx="1463040" cy="320040"/>
          </a:xfrm>
          <a:prstGeom prst="rect">
            <a:avLst/>
          </a:prstGeom>
          <a:noFill/>
          <a:ln/>
        </p:spPr>
        <p:txBody>
          <a:bodyPr wrap="square" lIns="0" tIns="0" rIns="0" bIns="0" rtlCol="0" anchor="ctr">
            <a:normAutofit/>
          </a:bodyPr>
          <a:lstStyle/>
          <a:p>
            <a:pPr indent="0" marL="0">
              <a:buNone/>
            </a:pPr>
            <a:r>
              <a:rPr lang="en-US" sz="1700" b="1" dirty="0">
                <a:solidFill>
                  <a:srgbClr val="F2F0EA"/>
                </a:solidFill>
                <a:latin typeface="Arial" pitchFamily="34" charset="0"/>
                <a:ea typeface="Arial" pitchFamily="34" charset="-122"/>
                <a:cs typeface="Arial" pitchFamily="34" charset="-120"/>
              </a:rPr>
              <a:t>BANKED</a:t>
            </a:r>
            <a:endParaRPr lang="en-US" sz="1700" dirty="0"/>
          </a:p>
        </p:txBody>
      </p:sp>
      <p:sp>
        <p:nvSpPr>
          <p:cNvPr id="3" name="Text 1"/>
          <p:cNvSpPr/>
          <p:nvPr/>
        </p:nvSpPr>
        <p:spPr>
          <a:xfrm>
            <a:off x="621792" y="1051560"/>
            <a:ext cx="10927080" cy="1051560"/>
          </a:xfrm>
          <a:prstGeom prst="rect">
            <a:avLst/>
          </a:prstGeom>
          <a:noFill/>
          <a:ln/>
        </p:spPr>
        <p:txBody>
          <a:bodyPr wrap="square" lIns="0" tIns="0" rIns="0" bIns="0" rtlCol="0" anchor="t">
            <a:normAutofit/>
          </a:bodyPr>
          <a:lstStyle/>
          <a:p>
            <a:pPr indent="0" marL="0">
              <a:buNone/>
            </a:pPr>
            <a:r>
              <a:rPr lang="en-US" sz="3900" b="1" spc="-120" kern="0" dirty="0">
                <a:solidFill>
                  <a:srgbClr val="F2F0EA"/>
                </a:solidFill>
                <a:latin typeface="Arial" pitchFamily="34" charset="0"/>
                <a:ea typeface="Arial" pitchFamily="34" charset="-122"/>
                <a:cs typeface="Arial" pitchFamily="34" charset="-120"/>
              </a:rPr>
              <a:t>After the sale, see where the money went.</a:t>
            </a:r>
            <a:endParaRPr lang="en-US" sz="3900" dirty="0"/>
          </a:p>
        </p:txBody>
      </p:sp>
      <p:sp>
        <p:nvSpPr>
          <p:cNvPr id="4" name="Text 2"/>
          <p:cNvSpPr/>
          <p:nvPr/>
        </p:nvSpPr>
        <p:spPr>
          <a:xfrm>
            <a:off x="640080" y="2221992"/>
            <a:ext cx="9784080" cy="438912"/>
          </a:xfrm>
          <a:prstGeom prst="rect">
            <a:avLst/>
          </a:prstGeom>
          <a:noFill/>
          <a:ln/>
        </p:spPr>
        <p:txBody>
          <a:bodyPr wrap="square" lIns="0" tIns="0" rIns="0" bIns="0" rtlCol="0" anchor="ctr">
            <a:normAutofit/>
          </a:bodyPr>
          <a:lstStyle/>
          <a:p>
            <a:pPr indent="0" marL="0">
              <a:buNone/>
            </a:pPr>
            <a:r>
              <a:rPr lang="en-US" sz="2600" b="1" dirty="0">
                <a:solidFill>
                  <a:srgbClr val="D4A84F"/>
                </a:solidFill>
                <a:latin typeface="Arial" pitchFamily="34" charset="0"/>
                <a:ea typeface="Arial" pitchFamily="34" charset="-122"/>
                <a:cs typeface="Arial" pitchFamily="34" charset="-120"/>
              </a:rPr>
              <a:t>SPYx completed. JUP still waiting.</a:t>
            </a:r>
            <a:endParaRPr lang="en-US" sz="2600" dirty="0"/>
          </a:p>
        </p:txBody>
      </p:sp>
      <p:sp>
        <p:nvSpPr>
          <p:cNvPr id="5" name="Shape 3"/>
          <p:cNvSpPr/>
          <p:nvPr/>
        </p:nvSpPr>
        <p:spPr>
          <a:xfrm>
            <a:off x="640080" y="2779776"/>
            <a:ext cx="10899648" cy="3282696"/>
          </a:xfrm>
          <a:prstGeom prst="rect">
            <a:avLst/>
          </a:prstGeom>
          <a:solidFill>
            <a:srgbClr val="12161B"/>
          </a:solidFill>
          <a:ln w="11430">
            <a:solidFill>
              <a:srgbClr val="303740"/>
            </a:solidFill>
            <a:prstDash val="solid"/>
          </a:ln>
        </p:spPr>
      </p:sp>
      <p:pic>
        <p:nvPicPr>
          <p:cNvPr id="6" name="Image 0" descr="D:\Hackathon\BankedStocklana\pitch\money-after.png">    </p:cNvPr>
          <p:cNvPicPr>
            <a:picLocks noChangeAspect="1"/>
          </p:cNvPicPr>
          <p:nvPr/>
        </p:nvPicPr>
        <p:blipFill>
          <a:blip r:embed="rId1"/>
          <a:stretch>
            <a:fillRect/>
          </a:stretch>
        </p:blipFill>
        <p:spPr>
          <a:xfrm>
            <a:off x="713232" y="2852928"/>
            <a:ext cx="10753344" cy="309981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D10"/>
        </a:solidFill>
      </p:bgPr>
    </p:bg>
    <p:spTree>
      <p:nvGrpSpPr>
        <p:cNvPr id="1" name=""/>
        <p:cNvGrpSpPr/>
        <p:nvPr/>
      </p:nvGrpSpPr>
      <p:grpSpPr>
        <a:xfrm>
          <a:off x="0" y="0"/>
          <a:ext cx="0" cy="0"/>
          <a:chOff x="0" y="0"/>
          <a:chExt cx="0" cy="0"/>
        </a:xfrm>
      </p:grpSpPr>
      <p:sp>
        <p:nvSpPr>
          <p:cNvPr id="2" name="Text 0"/>
          <p:cNvSpPr/>
          <p:nvPr/>
        </p:nvSpPr>
        <p:spPr>
          <a:xfrm>
            <a:off x="594360" y="320040"/>
            <a:ext cx="1463040" cy="320040"/>
          </a:xfrm>
          <a:prstGeom prst="rect">
            <a:avLst/>
          </a:prstGeom>
          <a:noFill/>
          <a:ln/>
        </p:spPr>
        <p:txBody>
          <a:bodyPr wrap="square" lIns="0" tIns="0" rIns="0" bIns="0" rtlCol="0" anchor="ctr">
            <a:normAutofit/>
          </a:bodyPr>
          <a:lstStyle/>
          <a:p>
            <a:pPr indent="0" marL="0">
              <a:buNone/>
            </a:pPr>
            <a:r>
              <a:rPr lang="en-US" sz="1700" b="1" dirty="0">
                <a:solidFill>
                  <a:srgbClr val="F2F0EA"/>
                </a:solidFill>
                <a:latin typeface="Arial" pitchFamily="34" charset="0"/>
                <a:ea typeface="Arial" pitchFamily="34" charset="-122"/>
                <a:cs typeface="Arial" pitchFamily="34" charset="-120"/>
              </a:rPr>
              <a:t>BANKED</a:t>
            </a:r>
            <a:endParaRPr lang="en-US" sz="1700" dirty="0"/>
          </a:p>
        </p:txBody>
      </p:sp>
      <p:sp>
        <p:nvSpPr>
          <p:cNvPr id="3" name="Text 1"/>
          <p:cNvSpPr/>
          <p:nvPr/>
        </p:nvSpPr>
        <p:spPr>
          <a:xfrm>
            <a:off x="621792" y="1051560"/>
            <a:ext cx="10927080" cy="1051560"/>
          </a:xfrm>
          <a:prstGeom prst="rect">
            <a:avLst/>
          </a:prstGeom>
          <a:noFill/>
          <a:ln/>
        </p:spPr>
        <p:txBody>
          <a:bodyPr wrap="square" lIns="0" tIns="0" rIns="0" bIns="0" rtlCol="0" anchor="t">
            <a:normAutofit/>
          </a:bodyPr>
          <a:lstStyle/>
          <a:p>
            <a:pPr indent="0" marL="0">
              <a:buNone/>
            </a:pPr>
            <a:r>
              <a:rPr lang="en-US" sz="4200" b="1" spc="-120" kern="0" dirty="0">
                <a:solidFill>
                  <a:srgbClr val="F2F0EA"/>
                </a:solidFill>
                <a:latin typeface="Arial" pitchFamily="34" charset="0"/>
                <a:ea typeface="Arial" pitchFamily="34" charset="-122"/>
                <a:cs typeface="Arial" pitchFamily="34" charset="-120"/>
              </a:rPr>
              <a:t>A bigger trade needs a stronger plan.</a:t>
            </a:r>
            <a:endParaRPr lang="en-US" sz="4200" dirty="0"/>
          </a:p>
        </p:txBody>
      </p:sp>
      <p:sp>
        <p:nvSpPr>
          <p:cNvPr id="4" name="Text 2"/>
          <p:cNvSpPr/>
          <p:nvPr/>
        </p:nvSpPr>
        <p:spPr>
          <a:xfrm>
            <a:off x="640080" y="2212848"/>
            <a:ext cx="10607040" cy="502920"/>
          </a:xfrm>
          <a:prstGeom prst="rect">
            <a:avLst/>
          </a:prstGeom>
          <a:noFill/>
          <a:ln/>
        </p:spPr>
        <p:txBody>
          <a:bodyPr wrap="square" lIns="0" tIns="0" rIns="0" bIns="0" rtlCol="0" anchor="ctr">
            <a:normAutofit/>
          </a:bodyPr>
          <a:lstStyle/>
          <a:p>
            <a:pPr indent="0" marL="0">
              <a:buNone/>
            </a:pPr>
            <a:r>
              <a:rPr lang="en-US" sz="2700" b="1" dirty="0">
                <a:solidFill>
                  <a:srgbClr val="D4A84F"/>
                </a:solidFill>
                <a:latin typeface="Arial" pitchFamily="34" charset="0"/>
                <a:ea typeface="Arial" pitchFamily="34" charset="-122"/>
                <a:cs typeface="Arial" pitchFamily="34" charset="-120"/>
              </a:rPr>
              <a:t>My trade size grew faster than my discipline.</a:t>
            </a:r>
            <a:endParaRPr lang="en-US" sz="2700" dirty="0"/>
          </a:p>
        </p:txBody>
      </p:sp>
      <p:sp>
        <p:nvSpPr>
          <p:cNvPr id="5" name="Shape 3"/>
          <p:cNvSpPr/>
          <p:nvPr/>
        </p:nvSpPr>
        <p:spPr>
          <a:xfrm>
            <a:off x="640080" y="2788920"/>
            <a:ext cx="3310128" cy="2212848"/>
          </a:xfrm>
          <a:prstGeom prst="rect">
            <a:avLst/>
          </a:prstGeom>
          <a:solidFill>
            <a:srgbClr val="12161B"/>
          </a:solidFill>
          <a:ln w="11430">
            <a:solidFill>
              <a:srgbClr val="303740"/>
            </a:solidFill>
            <a:prstDash val="solid"/>
          </a:ln>
        </p:spPr>
      </p:sp>
      <p:sp>
        <p:nvSpPr>
          <p:cNvPr id="6" name="Text 4"/>
          <p:cNvSpPr/>
          <p:nvPr/>
        </p:nvSpPr>
        <p:spPr>
          <a:xfrm>
            <a:off x="914400" y="3145536"/>
            <a:ext cx="1005840" cy="237744"/>
          </a:xfrm>
          <a:prstGeom prst="rect">
            <a:avLst/>
          </a:prstGeom>
          <a:noFill/>
          <a:ln/>
        </p:spPr>
        <p:txBody>
          <a:bodyPr wrap="square" lIns="0" tIns="0" rIns="0" bIns="0" rtlCol="0" anchor="ctr">
            <a:normAutofit/>
          </a:bodyPr>
          <a:lstStyle/>
          <a:p>
            <a:pPr indent="0" marL="0">
              <a:buNone/>
            </a:pPr>
            <a:r>
              <a:rPr lang="en-US" sz="1100" b="1" spc="150" kern="0" dirty="0">
                <a:solidFill>
                  <a:srgbClr val="D4A84F"/>
                </a:solidFill>
                <a:latin typeface="Arial" pitchFamily="34" charset="0"/>
                <a:ea typeface="Arial" pitchFamily="34" charset="-122"/>
                <a:cs typeface="Arial" pitchFamily="34" charset="-120"/>
              </a:rPr>
              <a:t>01</a:t>
            </a:r>
            <a:endParaRPr lang="en-US" sz="1100" dirty="0"/>
          </a:p>
        </p:txBody>
      </p:sp>
      <p:sp>
        <p:nvSpPr>
          <p:cNvPr id="7" name="Text 5"/>
          <p:cNvSpPr/>
          <p:nvPr/>
        </p:nvSpPr>
        <p:spPr>
          <a:xfrm>
            <a:off x="914400" y="3584448"/>
            <a:ext cx="2743200" cy="475488"/>
          </a:xfrm>
          <a:prstGeom prst="rect">
            <a:avLst/>
          </a:prstGeom>
          <a:noFill/>
          <a:ln/>
        </p:spPr>
        <p:txBody>
          <a:bodyPr wrap="square" lIns="0" tIns="0" rIns="0" bIns="0" rtlCol="0" anchor="ctr">
            <a:normAutofit/>
          </a:bodyPr>
          <a:lstStyle/>
          <a:p>
            <a:pPr indent="0" marL="0">
              <a:buNone/>
            </a:pPr>
            <a:r>
              <a:rPr lang="en-US" sz="2700" b="1" dirty="0">
                <a:solidFill>
                  <a:srgbClr val="F2F0EA"/>
                </a:solidFill>
                <a:latin typeface="Arial" pitchFamily="34" charset="0"/>
                <a:ea typeface="Arial" pitchFamily="34" charset="-122"/>
                <a:cs typeface="Arial" pitchFamily="34" charset="-120"/>
              </a:rPr>
              <a:t>Decide early</a:t>
            </a:r>
            <a:endParaRPr lang="en-US" sz="2700" dirty="0"/>
          </a:p>
        </p:txBody>
      </p:sp>
      <p:sp>
        <p:nvSpPr>
          <p:cNvPr id="8" name="Text 6"/>
          <p:cNvSpPr/>
          <p:nvPr/>
        </p:nvSpPr>
        <p:spPr>
          <a:xfrm>
            <a:off x="914400" y="4343400"/>
            <a:ext cx="2743200" cy="347472"/>
          </a:xfrm>
          <a:prstGeom prst="rect">
            <a:avLst/>
          </a:prstGeom>
          <a:noFill/>
          <a:ln/>
        </p:spPr>
        <p:txBody>
          <a:bodyPr wrap="square" lIns="0" tIns="0" rIns="0" bIns="0" rtlCol="0" anchor="ctr">
            <a:normAutofit/>
          </a:bodyPr>
          <a:lstStyle/>
          <a:p>
            <a:pPr indent="0" marL="0">
              <a:buNone/>
            </a:pPr>
            <a:r>
              <a:rPr lang="en-US" sz="1600" dirty="0">
                <a:solidFill>
                  <a:srgbClr val="A8A39A"/>
                </a:solidFill>
                <a:latin typeface="Arial" pitchFamily="34" charset="0"/>
                <a:ea typeface="Arial" pitchFamily="34" charset="-122"/>
                <a:cs typeface="Arial" pitchFamily="34" charset="-120"/>
              </a:rPr>
              <a:t>Set the rule before selling</a:t>
            </a:r>
            <a:endParaRPr lang="en-US" sz="1600" dirty="0"/>
          </a:p>
        </p:txBody>
      </p:sp>
      <p:sp>
        <p:nvSpPr>
          <p:cNvPr id="9" name="Shape 7"/>
          <p:cNvSpPr/>
          <p:nvPr/>
        </p:nvSpPr>
        <p:spPr>
          <a:xfrm>
            <a:off x="4434840" y="2788920"/>
            <a:ext cx="3310128" cy="2212848"/>
          </a:xfrm>
          <a:prstGeom prst="rect">
            <a:avLst/>
          </a:prstGeom>
          <a:solidFill>
            <a:srgbClr val="12161B"/>
          </a:solidFill>
          <a:ln w="11430">
            <a:solidFill>
              <a:srgbClr val="303740"/>
            </a:solidFill>
            <a:prstDash val="solid"/>
          </a:ln>
        </p:spPr>
      </p:sp>
      <p:sp>
        <p:nvSpPr>
          <p:cNvPr id="10" name="Text 8"/>
          <p:cNvSpPr/>
          <p:nvPr/>
        </p:nvSpPr>
        <p:spPr>
          <a:xfrm>
            <a:off x="4709160" y="3145536"/>
            <a:ext cx="1005840" cy="237744"/>
          </a:xfrm>
          <a:prstGeom prst="rect">
            <a:avLst/>
          </a:prstGeom>
          <a:noFill/>
          <a:ln/>
        </p:spPr>
        <p:txBody>
          <a:bodyPr wrap="square" lIns="0" tIns="0" rIns="0" bIns="0" rtlCol="0" anchor="ctr">
            <a:normAutofit/>
          </a:bodyPr>
          <a:lstStyle/>
          <a:p>
            <a:pPr indent="0" marL="0">
              <a:buNone/>
            </a:pPr>
            <a:r>
              <a:rPr lang="en-US" sz="1100" b="1" spc="150" kern="0" dirty="0">
                <a:solidFill>
                  <a:srgbClr val="D4A84F"/>
                </a:solidFill>
                <a:latin typeface="Arial" pitchFamily="34" charset="0"/>
                <a:ea typeface="Arial" pitchFamily="34" charset="-122"/>
                <a:cs typeface="Arial" pitchFamily="34" charset="-120"/>
              </a:rPr>
              <a:t>02</a:t>
            </a:r>
            <a:endParaRPr lang="en-US" sz="1100" dirty="0"/>
          </a:p>
        </p:txBody>
      </p:sp>
      <p:sp>
        <p:nvSpPr>
          <p:cNvPr id="11" name="Text 9"/>
          <p:cNvSpPr/>
          <p:nvPr/>
        </p:nvSpPr>
        <p:spPr>
          <a:xfrm>
            <a:off x="4709160" y="3584448"/>
            <a:ext cx="2743200" cy="475488"/>
          </a:xfrm>
          <a:prstGeom prst="rect">
            <a:avLst/>
          </a:prstGeom>
          <a:noFill/>
          <a:ln/>
        </p:spPr>
        <p:txBody>
          <a:bodyPr wrap="square" lIns="0" tIns="0" rIns="0" bIns="0" rtlCol="0" anchor="ctr">
            <a:normAutofit/>
          </a:bodyPr>
          <a:lstStyle/>
          <a:p>
            <a:pPr indent="0" marL="0">
              <a:buNone/>
            </a:pPr>
            <a:r>
              <a:rPr lang="en-US" sz="2700" b="1" dirty="0">
                <a:solidFill>
                  <a:srgbClr val="F2F0EA"/>
                </a:solidFill>
                <a:latin typeface="Arial" pitchFamily="34" charset="0"/>
                <a:ea typeface="Arial" pitchFamily="34" charset="-122"/>
                <a:cs typeface="Arial" pitchFamily="34" charset="-120"/>
              </a:rPr>
              <a:t>Split proceeds</a:t>
            </a:r>
            <a:endParaRPr lang="en-US" sz="2700" dirty="0"/>
          </a:p>
        </p:txBody>
      </p:sp>
      <p:sp>
        <p:nvSpPr>
          <p:cNvPr id="12" name="Text 10"/>
          <p:cNvSpPr/>
          <p:nvPr/>
        </p:nvSpPr>
        <p:spPr>
          <a:xfrm>
            <a:off x="4709160" y="4343400"/>
            <a:ext cx="2743200" cy="347472"/>
          </a:xfrm>
          <a:prstGeom prst="rect">
            <a:avLst/>
          </a:prstGeom>
          <a:noFill/>
          <a:ln/>
        </p:spPr>
        <p:txBody>
          <a:bodyPr wrap="square" lIns="0" tIns="0" rIns="0" bIns="0" rtlCol="0" anchor="ctr">
            <a:normAutofit/>
          </a:bodyPr>
          <a:lstStyle/>
          <a:p>
            <a:pPr indent="0" marL="0">
              <a:buNone/>
            </a:pPr>
            <a:r>
              <a:rPr lang="en-US" sz="1600" dirty="0">
                <a:solidFill>
                  <a:srgbClr val="A8A39A"/>
                </a:solidFill>
                <a:latin typeface="Arial" pitchFamily="34" charset="0"/>
                <a:ea typeface="Arial" pitchFamily="34" charset="-122"/>
                <a:cs typeface="Arial" pitchFamily="34" charset="-120"/>
              </a:rPr>
              <a:t>Give each share a job</a:t>
            </a:r>
            <a:endParaRPr lang="en-US" sz="1600" dirty="0"/>
          </a:p>
        </p:txBody>
      </p:sp>
      <p:sp>
        <p:nvSpPr>
          <p:cNvPr id="13" name="Shape 11"/>
          <p:cNvSpPr/>
          <p:nvPr/>
        </p:nvSpPr>
        <p:spPr>
          <a:xfrm>
            <a:off x="8229600" y="2788920"/>
            <a:ext cx="3310128" cy="2212848"/>
          </a:xfrm>
          <a:prstGeom prst="rect">
            <a:avLst/>
          </a:prstGeom>
          <a:solidFill>
            <a:srgbClr val="12161B"/>
          </a:solidFill>
          <a:ln w="11430">
            <a:solidFill>
              <a:srgbClr val="303740"/>
            </a:solidFill>
            <a:prstDash val="solid"/>
          </a:ln>
        </p:spPr>
      </p:sp>
      <p:sp>
        <p:nvSpPr>
          <p:cNvPr id="14" name="Text 12"/>
          <p:cNvSpPr/>
          <p:nvPr/>
        </p:nvSpPr>
        <p:spPr>
          <a:xfrm>
            <a:off x="8503920" y="3145536"/>
            <a:ext cx="1005840" cy="237744"/>
          </a:xfrm>
          <a:prstGeom prst="rect">
            <a:avLst/>
          </a:prstGeom>
          <a:noFill/>
          <a:ln/>
        </p:spPr>
        <p:txBody>
          <a:bodyPr wrap="square" lIns="0" tIns="0" rIns="0" bIns="0" rtlCol="0" anchor="ctr">
            <a:normAutofit/>
          </a:bodyPr>
          <a:lstStyle/>
          <a:p>
            <a:pPr indent="0" marL="0">
              <a:buNone/>
            </a:pPr>
            <a:r>
              <a:rPr lang="en-US" sz="1100" b="1" spc="150" kern="0" dirty="0">
                <a:solidFill>
                  <a:srgbClr val="D4A84F"/>
                </a:solidFill>
                <a:latin typeface="Arial" pitchFamily="34" charset="0"/>
                <a:ea typeface="Arial" pitchFamily="34" charset="-122"/>
                <a:cs typeface="Arial" pitchFamily="34" charset="-120"/>
              </a:rPr>
              <a:t>03</a:t>
            </a:r>
            <a:endParaRPr lang="en-US" sz="1100" dirty="0"/>
          </a:p>
        </p:txBody>
      </p:sp>
      <p:sp>
        <p:nvSpPr>
          <p:cNvPr id="15" name="Text 13"/>
          <p:cNvSpPr/>
          <p:nvPr/>
        </p:nvSpPr>
        <p:spPr>
          <a:xfrm>
            <a:off x="8503920" y="3584448"/>
            <a:ext cx="2743200" cy="475488"/>
          </a:xfrm>
          <a:prstGeom prst="rect">
            <a:avLst/>
          </a:prstGeom>
          <a:noFill/>
          <a:ln/>
        </p:spPr>
        <p:txBody>
          <a:bodyPr wrap="square" lIns="0" tIns="0" rIns="0" bIns="0" rtlCol="0" anchor="ctr">
            <a:normAutofit/>
          </a:bodyPr>
          <a:lstStyle/>
          <a:p>
            <a:pPr indent="0" marL="0">
              <a:buNone/>
            </a:pPr>
            <a:r>
              <a:rPr lang="en-US" sz="2700" b="1" dirty="0">
                <a:solidFill>
                  <a:srgbClr val="F2F0EA"/>
                </a:solidFill>
                <a:latin typeface="Arial" pitchFamily="34" charset="0"/>
                <a:ea typeface="Arial" pitchFamily="34" charset="-122"/>
                <a:cs typeface="Arial" pitchFamily="34" charset="-120"/>
              </a:rPr>
              <a:t>Stay honest</a:t>
            </a:r>
            <a:endParaRPr lang="en-US" sz="2700" dirty="0"/>
          </a:p>
        </p:txBody>
      </p:sp>
      <p:sp>
        <p:nvSpPr>
          <p:cNvPr id="16" name="Text 14"/>
          <p:cNvSpPr/>
          <p:nvPr/>
        </p:nvSpPr>
        <p:spPr>
          <a:xfrm>
            <a:off x="8503920" y="4343400"/>
            <a:ext cx="2743200" cy="347472"/>
          </a:xfrm>
          <a:prstGeom prst="rect">
            <a:avLst/>
          </a:prstGeom>
          <a:noFill/>
          <a:ln/>
        </p:spPr>
        <p:txBody>
          <a:bodyPr wrap="square" lIns="0" tIns="0" rIns="0" bIns="0" rtlCol="0" anchor="ctr">
            <a:normAutofit/>
          </a:bodyPr>
          <a:lstStyle/>
          <a:p>
            <a:pPr indent="0" marL="0">
              <a:buNone/>
            </a:pPr>
            <a:r>
              <a:rPr lang="en-US" sz="1600" dirty="0">
                <a:solidFill>
                  <a:srgbClr val="A8A39A"/>
                </a:solidFill>
                <a:latin typeface="Arial" pitchFamily="34" charset="0"/>
                <a:ea typeface="Arial" pitchFamily="34" charset="-122"/>
                <a:cs typeface="Arial" pitchFamily="34" charset="-120"/>
              </a:rPr>
              <a:t>See unfinished actions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D10"/>
        </a:solidFill>
      </p:bgPr>
    </p:bg>
    <p:spTree>
      <p:nvGrpSpPr>
        <p:cNvPr id="1" name=""/>
        <p:cNvGrpSpPr/>
        <p:nvPr/>
      </p:nvGrpSpPr>
      <p:grpSpPr>
        <a:xfrm>
          <a:off x="0" y="0"/>
          <a:ext cx="0" cy="0"/>
          <a:chOff x="0" y="0"/>
          <a:chExt cx="0" cy="0"/>
        </a:xfrm>
      </p:grpSpPr>
      <p:sp>
        <p:nvSpPr>
          <p:cNvPr id="2" name="Text 0"/>
          <p:cNvSpPr/>
          <p:nvPr/>
        </p:nvSpPr>
        <p:spPr>
          <a:xfrm>
            <a:off x="594360" y="320040"/>
            <a:ext cx="1463040" cy="320040"/>
          </a:xfrm>
          <a:prstGeom prst="rect">
            <a:avLst/>
          </a:prstGeom>
          <a:noFill/>
          <a:ln/>
        </p:spPr>
        <p:txBody>
          <a:bodyPr wrap="square" lIns="0" tIns="0" rIns="0" bIns="0" rtlCol="0" anchor="ctr">
            <a:normAutofit/>
          </a:bodyPr>
          <a:lstStyle/>
          <a:p>
            <a:pPr indent="0" marL="0">
              <a:buNone/>
            </a:pPr>
            <a:r>
              <a:rPr lang="en-US" sz="1700" b="1" dirty="0">
                <a:solidFill>
                  <a:srgbClr val="F2F0EA"/>
                </a:solidFill>
                <a:latin typeface="Arial" pitchFamily="34" charset="0"/>
                <a:ea typeface="Arial" pitchFamily="34" charset="-122"/>
                <a:cs typeface="Arial" pitchFamily="34" charset="-120"/>
              </a:rPr>
              <a:t>BANKED</a:t>
            </a:r>
            <a:endParaRPr lang="en-US" sz="1700" dirty="0"/>
          </a:p>
        </p:txBody>
      </p:sp>
      <p:sp>
        <p:nvSpPr>
          <p:cNvPr id="3" name="Text 1"/>
          <p:cNvSpPr/>
          <p:nvPr/>
        </p:nvSpPr>
        <p:spPr>
          <a:xfrm>
            <a:off x="621792" y="1051560"/>
            <a:ext cx="10927080" cy="1051560"/>
          </a:xfrm>
          <a:prstGeom prst="rect">
            <a:avLst/>
          </a:prstGeom>
          <a:noFill/>
          <a:ln/>
        </p:spPr>
        <p:txBody>
          <a:bodyPr wrap="square" lIns="0" tIns="0" rIns="0" bIns="0" rtlCol="0" anchor="t">
            <a:normAutofit/>
          </a:bodyPr>
          <a:lstStyle/>
          <a:p>
            <a:pPr indent="0" marL="0">
              <a:buNone/>
            </a:pPr>
            <a:r>
              <a:rPr lang="en-US" sz="4100" b="1" spc="-120" kern="0" dirty="0">
                <a:solidFill>
                  <a:srgbClr val="F2F0EA"/>
                </a:solidFill>
                <a:latin typeface="Arial" pitchFamily="34" charset="0"/>
                <a:ea typeface="Arial" pitchFamily="34" charset="-122"/>
                <a:cs typeface="Arial" pitchFamily="34" charset="-120"/>
              </a:rPr>
              <a:t>SOL, USDC, and SPYx share one wallet.</a:t>
            </a:r>
            <a:endParaRPr lang="en-US" sz="4100" dirty="0"/>
          </a:p>
        </p:txBody>
      </p:sp>
      <p:sp>
        <p:nvSpPr>
          <p:cNvPr id="4" name="Text 2"/>
          <p:cNvSpPr/>
          <p:nvPr/>
        </p:nvSpPr>
        <p:spPr>
          <a:xfrm>
            <a:off x="676656" y="2560320"/>
            <a:ext cx="731520" cy="237744"/>
          </a:xfrm>
          <a:prstGeom prst="rect">
            <a:avLst/>
          </a:prstGeom>
          <a:noFill/>
          <a:ln/>
        </p:spPr>
        <p:txBody>
          <a:bodyPr wrap="square" lIns="0" tIns="0" rIns="0" bIns="0" rtlCol="0" anchor="ctr">
            <a:normAutofit/>
          </a:bodyPr>
          <a:lstStyle/>
          <a:p>
            <a:pPr indent="0" marL="0">
              <a:buNone/>
            </a:pPr>
            <a:r>
              <a:rPr lang="en-US" sz="1100" b="1" spc="150" kern="0" dirty="0">
                <a:solidFill>
                  <a:srgbClr val="D4A84F"/>
                </a:solidFill>
                <a:latin typeface="Arial" pitchFamily="34" charset="0"/>
                <a:ea typeface="Arial" pitchFamily="34" charset="-122"/>
                <a:cs typeface="Arial" pitchFamily="34" charset="-120"/>
              </a:rPr>
              <a:t>01</a:t>
            </a:r>
            <a:endParaRPr lang="en-US" sz="1100" dirty="0"/>
          </a:p>
        </p:txBody>
      </p:sp>
      <p:sp>
        <p:nvSpPr>
          <p:cNvPr id="5" name="Text 3"/>
          <p:cNvSpPr/>
          <p:nvPr/>
        </p:nvSpPr>
        <p:spPr>
          <a:xfrm>
            <a:off x="1444752" y="2496312"/>
            <a:ext cx="9784080" cy="493776"/>
          </a:xfrm>
          <a:prstGeom prst="rect">
            <a:avLst/>
          </a:prstGeom>
          <a:noFill/>
          <a:ln/>
        </p:spPr>
        <p:txBody>
          <a:bodyPr wrap="square" lIns="0" tIns="0" rIns="0" bIns="0" rtlCol="0" anchor="ctr">
            <a:normAutofit/>
          </a:bodyPr>
          <a:lstStyle/>
          <a:p>
            <a:pPr indent="0" marL="0">
              <a:buNone/>
            </a:pPr>
            <a:r>
              <a:rPr lang="en-US" sz="2900" b="1" dirty="0">
                <a:solidFill>
                  <a:srgbClr val="F2F0EA"/>
                </a:solidFill>
                <a:latin typeface="Arial" pitchFamily="34" charset="0"/>
                <a:ea typeface="Arial" pitchFamily="34" charset="-122"/>
                <a:cs typeface="Arial" pitchFamily="34" charset="-120"/>
              </a:rPr>
              <a:t>Sell SOL into USDC</a:t>
            </a:r>
            <a:endParaRPr lang="en-US" sz="2900" dirty="0"/>
          </a:p>
        </p:txBody>
      </p:sp>
      <p:sp>
        <p:nvSpPr>
          <p:cNvPr id="6" name="Text 4"/>
          <p:cNvSpPr/>
          <p:nvPr/>
        </p:nvSpPr>
        <p:spPr>
          <a:xfrm>
            <a:off x="676656" y="3529584"/>
            <a:ext cx="731520" cy="237744"/>
          </a:xfrm>
          <a:prstGeom prst="rect">
            <a:avLst/>
          </a:prstGeom>
          <a:noFill/>
          <a:ln/>
        </p:spPr>
        <p:txBody>
          <a:bodyPr wrap="square" lIns="0" tIns="0" rIns="0" bIns="0" rtlCol="0" anchor="ctr">
            <a:normAutofit/>
          </a:bodyPr>
          <a:lstStyle/>
          <a:p>
            <a:pPr indent="0" marL="0">
              <a:buNone/>
            </a:pPr>
            <a:r>
              <a:rPr lang="en-US" sz="1100" b="1" spc="150" kern="0" dirty="0">
                <a:solidFill>
                  <a:srgbClr val="D4A84F"/>
                </a:solidFill>
                <a:latin typeface="Arial" pitchFamily="34" charset="0"/>
                <a:ea typeface="Arial" pitchFamily="34" charset="-122"/>
                <a:cs typeface="Arial" pitchFamily="34" charset="-120"/>
              </a:rPr>
              <a:t>02</a:t>
            </a:r>
            <a:endParaRPr lang="en-US" sz="1100" dirty="0"/>
          </a:p>
        </p:txBody>
      </p:sp>
      <p:sp>
        <p:nvSpPr>
          <p:cNvPr id="7" name="Text 5"/>
          <p:cNvSpPr/>
          <p:nvPr/>
        </p:nvSpPr>
        <p:spPr>
          <a:xfrm>
            <a:off x="1444752" y="3465576"/>
            <a:ext cx="9784080" cy="493776"/>
          </a:xfrm>
          <a:prstGeom prst="rect">
            <a:avLst/>
          </a:prstGeom>
          <a:noFill/>
          <a:ln/>
        </p:spPr>
        <p:txBody>
          <a:bodyPr wrap="square" lIns="0" tIns="0" rIns="0" bIns="0" rtlCol="0" anchor="ctr">
            <a:normAutofit/>
          </a:bodyPr>
          <a:lstStyle/>
          <a:p>
            <a:pPr indent="0" marL="0">
              <a:buNone/>
            </a:pPr>
            <a:r>
              <a:rPr lang="en-US" sz="2900" b="1" dirty="0">
                <a:solidFill>
                  <a:srgbClr val="F2F0EA"/>
                </a:solidFill>
                <a:latin typeface="Arial" pitchFamily="34" charset="0"/>
                <a:ea typeface="Arial" pitchFamily="34" charset="-122"/>
                <a:cs typeface="Arial" pitchFamily="34" charset="-120"/>
              </a:rPr>
              <a:t>Route a share toward SPYx or JUP</a:t>
            </a:r>
            <a:endParaRPr lang="en-US" sz="2900" dirty="0"/>
          </a:p>
        </p:txBody>
      </p:sp>
      <p:sp>
        <p:nvSpPr>
          <p:cNvPr id="8" name="Text 6"/>
          <p:cNvSpPr/>
          <p:nvPr/>
        </p:nvSpPr>
        <p:spPr>
          <a:xfrm>
            <a:off x="676656" y="4498848"/>
            <a:ext cx="731520" cy="237744"/>
          </a:xfrm>
          <a:prstGeom prst="rect">
            <a:avLst/>
          </a:prstGeom>
          <a:noFill/>
          <a:ln/>
        </p:spPr>
        <p:txBody>
          <a:bodyPr wrap="square" lIns="0" tIns="0" rIns="0" bIns="0" rtlCol="0" anchor="ctr">
            <a:normAutofit/>
          </a:bodyPr>
          <a:lstStyle/>
          <a:p>
            <a:pPr indent="0" marL="0">
              <a:buNone/>
            </a:pPr>
            <a:r>
              <a:rPr lang="en-US" sz="1100" b="1" spc="150" kern="0" dirty="0">
                <a:solidFill>
                  <a:srgbClr val="D4A84F"/>
                </a:solidFill>
                <a:latin typeface="Arial" pitchFamily="34" charset="0"/>
                <a:ea typeface="Arial" pitchFamily="34" charset="-122"/>
                <a:cs typeface="Arial" pitchFamily="34" charset="-120"/>
              </a:rPr>
              <a:t>03</a:t>
            </a:r>
            <a:endParaRPr lang="en-US" sz="1100" dirty="0"/>
          </a:p>
        </p:txBody>
      </p:sp>
      <p:sp>
        <p:nvSpPr>
          <p:cNvPr id="9" name="Text 7"/>
          <p:cNvSpPr/>
          <p:nvPr/>
        </p:nvSpPr>
        <p:spPr>
          <a:xfrm>
            <a:off x="1444752" y="4434840"/>
            <a:ext cx="9784080" cy="493776"/>
          </a:xfrm>
          <a:prstGeom prst="rect">
            <a:avLst/>
          </a:prstGeom>
          <a:noFill/>
          <a:ln/>
        </p:spPr>
        <p:txBody>
          <a:bodyPr wrap="square" lIns="0" tIns="0" rIns="0" bIns="0" rtlCol="0" anchor="ctr">
            <a:normAutofit/>
          </a:bodyPr>
          <a:lstStyle/>
          <a:p>
            <a:pPr indent="0" marL="0">
              <a:buNone/>
            </a:pPr>
            <a:r>
              <a:rPr lang="en-US" sz="2900" b="1" dirty="0">
                <a:solidFill>
                  <a:srgbClr val="F2F0EA"/>
                </a:solidFill>
                <a:latin typeface="Arial" pitchFamily="34" charset="0"/>
                <a:ea typeface="Arial" pitchFamily="34" charset="-122"/>
                <a:cs typeface="Arial" pitchFamily="34" charset="-120"/>
              </a:rPr>
              <a:t>Check the receipt for every step</a:t>
            </a:r>
            <a:endParaRPr lang="en-US" sz="2900" dirty="0"/>
          </a:p>
        </p:txBody>
      </p:sp>
      <p:sp>
        <p:nvSpPr>
          <p:cNvPr id="10" name="Shape 8"/>
          <p:cNvSpPr/>
          <p:nvPr/>
        </p:nvSpPr>
        <p:spPr>
          <a:xfrm>
            <a:off x="658368" y="5632704"/>
            <a:ext cx="10808208" cy="594360"/>
          </a:xfrm>
          <a:prstGeom prst="rect">
            <a:avLst/>
          </a:prstGeom>
          <a:solidFill>
            <a:srgbClr val="171C22"/>
          </a:solidFill>
          <a:ln w="11430">
            <a:solidFill>
              <a:srgbClr val="171C22"/>
            </a:solidFill>
            <a:prstDash val="solid"/>
          </a:ln>
        </p:spPr>
      </p:sp>
      <p:sp>
        <p:nvSpPr>
          <p:cNvPr id="11" name="Text 9"/>
          <p:cNvSpPr/>
          <p:nvPr/>
        </p:nvSpPr>
        <p:spPr>
          <a:xfrm>
            <a:off x="932688" y="5742432"/>
            <a:ext cx="8138160" cy="292608"/>
          </a:xfrm>
          <a:prstGeom prst="rect">
            <a:avLst/>
          </a:prstGeom>
          <a:noFill/>
          <a:ln/>
        </p:spPr>
        <p:txBody>
          <a:bodyPr wrap="square" lIns="0" tIns="0" rIns="0" bIns="0" rtlCol="0" anchor="ctr">
            <a:normAutofit/>
          </a:bodyPr>
          <a:lstStyle/>
          <a:p>
            <a:pPr indent="0" marL="0">
              <a:buNone/>
            </a:pPr>
            <a:r>
              <a:rPr lang="en-US" sz="2000" b="1" dirty="0">
                <a:solidFill>
                  <a:srgbClr val="D4A84F"/>
                </a:solidFill>
                <a:latin typeface="Arial" pitchFamily="34" charset="0"/>
                <a:ea typeface="Arial" pitchFamily="34" charset="-122"/>
                <a:cs typeface="Arial" pitchFamily="34" charset="-120"/>
              </a:rPr>
              <a:t>Why now: tokenized stocks are already live on Solana.</a:t>
            </a:r>
            <a:endParaRPr lang="en-US" sz="2000" dirty="0"/>
          </a:p>
        </p:txBody>
      </p:sp>
      <p:sp>
        <p:nvSpPr>
          <p:cNvPr id="12" name="Text 10">
            <a:hlinkClick r:id="rId1" tooltip=""/>
          </p:cNvPr>
          <p:cNvSpPr/>
          <p:nvPr/>
        </p:nvSpPr>
        <p:spPr>
          <a:xfrm>
            <a:off x="9235440" y="5779008"/>
            <a:ext cx="1920240" cy="210312"/>
          </a:xfrm>
          <a:prstGeom prst="rect">
            <a:avLst/>
          </a:prstGeom>
          <a:noFill/>
          <a:ln/>
        </p:spPr>
        <p:txBody>
          <a:bodyPr wrap="square" lIns="0" tIns="0" rIns="0" bIns="0" rtlCol="0" anchor="ctr">
            <a:normAutofit/>
          </a:bodyPr>
          <a:lstStyle/>
          <a:p>
            <a:pPr indent="0" marL="0">
              <a:buNone/>
            </a:pPr>
            <a:r>
              <a:rPr lang="en-US" sz="1200" u="sng" dirty="0">
                <a:solidFill>
                  <a:srgbClr val="A8A39A"/>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Solana Foundation, 2025</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D10"/>
        </a:solidFill>
      </p:bgPr>
    </p:bg>
    <p:spTree>
      <p:nvGrpSpPr>
        <p:cNvPr id="1" name=""/>
        <p:cNvGrpSpPr/>
        <p:nvPr/>
      </p:nvGrpSpPr>
      <p:grpSpPr>
        <a:xfrm>
          <a:off x="0" y="0"/>
          <a:ext cx="0" cy="0"/>
          <a:chOff x="0" y="0"/>
          <a:chExt cx="0" cy="0"/>
        </a:xfrm>
      </p:grpSpPr>
      <p:sp>
        <p:nvSpPr>
          <p:cNvPr id="2" name="Text 0"/>
          <p:cNvSpPr/>
          <p:nvPr/>
        </p:nvSpPr>
        <p:spPr>
          <a:xfrm>
            <a:off x="594360" y="320040"/>
            <a:ext cx="1463040" cy="320040"/>
          </a:xfrm>
          <a:prstGeom prst="rect">
            <a:avLst/>
          </a:prstGeom>
          <a:noFill/>
          <a:ln/>
        </p:spPr>
        <p:txBody>
          <a:bodyPr wrap="square" lIns="0" tIns="0" rIns="0" bIns="0" rtlCol="0" anchor="ctr">
            <a:normAutofit/>
          </a:bodyPr>
          <a:lstStyle/>
          <a:p>
            <a:pPr indent="0" marL="0">
              <a:buNone/>
            </a:pPr>
            <a:r>
              <a:rPr lang="en-US" sz="1700" b="1" dirty="0">
                <a:solidFill>
                  <a:srgbClr val="F2F0EA"/>
                </a:solidFill>
                <a:latin typeface="Arial" pitchFamily="34" charset="0"/>
                <a:ea typeface="Arial" pitchFamily="34" charset="-122"/>
                <a:cs typeface="Arial" pitchFamily="34" charset="-120"/>
              </a:rPr>
              <a:t>BANKED</a:t>
            </a:r>
            <a:endParaRPr lang="en-US" sz="1700" dirty="0"/>
          </a:p>
        </p:txBody>
      </p:sp>
      <p:sp>
        <p:nvSpPr>
          <p:cNvPr id="3" name="Text 1"/>
          <p:cNvSpPr/>
          <p:nvPr/>
        </p:nvSpPr>
        <p:spPr>
          <a:xfrm>
            <a:off x="621792" y="1051560"/>
            <a:ext cx="10927080" cy="1051560"/>
          </a:xfrm>
          <a:prstGeom prst="rect">
            <a:avLst/>
          </a:prstGeom>
          <a:noFill/>
          <a:ln/>
        </p:spPr>
        <p:txBody>
          <a:bodyPr wrap="square" lIns="0" tIns="0" rIns="0" bIns="0" rtlCol="0" anchor="t">
            <a:normAutofit/>
          </a:bodyPr>
          <a:lstStyle/>
          <a:p>
            <a:pPr indent="0" marL="0">
              <a:buNone/>
            </a:pPr>
            <a:r>
              <a:rPr lang="en-US" sz="4200" b="1" spc="-120" kern="0" dirty="0">
                <a:solidFill>
                  <a:srgbClr val="F2F0EA"/>
                </a:solidFill>
                <a:latin typeface="Arial" pitchFamily="34" charset="0"/>
                <a:ea typeface="Arial" pitchFamily="34" charset="-122"/>
                <a:cs typeface="Arial" pitchFamily="34" charset="-120"/>
              </a:rPr>
              <a:t>A focused market is already on Solana.</a:t>
            </a:r>
            <a:endParaRPr lang="en-US" sz="4200" dirty="0"/>
          </a:p>
        </p:txBody>
      </p:sp>
      <p:sp>
        <p:nvSpPr>
          <p:cNvPr id="4" name="Shape 2"/>
          <p:cNvSpPr/>
          <p:nvPr/>
        </p:nvSpPr>
        <p:spPr>
          <a:xfrm>
            <a:off x="640080" y="2267712"/>
            <a:ext cx="5074920" cy="2971800"/>
          </a:xfrm>
          <a:prstGeom prst="rect">
            <a:avLst/>
          </a:prstGeom>
          <a:solidFill>
            <a:srgbClr val="12161B"/>
          </a:solidFill>
          <a:ln w="11430">
            <a:solidFill>
              <a:srgbClr val="303740"/>
            </a:solidFill>
            <a:prstDash val="solid"/>
          </a:ln>
        </p:spPr>
      </p:sp>
      <p:sp>
        <p:nvSpPr>
          <p:cNvPr id="5" name="Text 3"/>
          <p:cNvSpPr/>
          <p:nvPr/>
        </p:nvSpPr>
        <p:spPr>
          <a:xfrm>
            <a:off x="960120" y="2670048"/>
            <a:ext cx="4206240" cy="960120"/>
          </a:xfrm>
          <a:prstGeom prst="rect">
            <a:avLst/>
          </a:prstGeom>
          <a:noFill/>
          <a:ln/>
        </p:spPr>
        <p:txBody>
          <a:bodyPr wrap="square" lIns="0" tIns="0" rIns="0" bIns="0" rtlCol="0" anchor="ctr">
            <a:normAutofit/>
          </a:bodyPr>
          <a:lstStyle/>
          <a:p>
            <a:pPr indent="0" marL="0">
              <a:buNone/>
            </a:pPr>
            <a:r>
              <a:rPr lang="en-US" sz="6000" b="1" dirty="0">
                <a:solidFill>
                  <a:srgbClr val="D4A84F"/>
                </a:solidFill>
                <a:latin typeface="Arial" pitchFamily="34" charset="0"/>
                <a:ea typeface="Arial" pitchFamily="34" charset="-122"/>
                <a:cs typeface="Arial" pitchFamily="34" charset="-120"/>
              </a:rPr>
              <a:t>190K+</a:t>
            </a:r>
            <a:endParaRPr lang="en-US" sz="6000" dirty="0"/>
          </a:p>
        </p:txBody>
      </p:sp>
      <p:sp>
        <p:nvSpPr>
          <p:cNvPr id="6" name="Text 4"/>
          <p:cNvSpPr/>
          <p:nvPr/>
        </p:nvSpPr>
        <p:spPr>
          <a:xfrm>
            <a:off x="978408" y="3712464"/>
            <a:ext cx="4297680" cy="393192"/>
          </a:xfrm>
          <a:prstGeom prst="rect">
            <a:avLst/>
          </a:prstGeom>
          <a:noFill/>
          <a:ln/>
        </p:spPr>
        <p:txBody>
          <a:bodyPr wrap="square" lIns="0" tIns="0" rIns="0" bIns="0" rtlCol="0" anchor="ctr">
            <a:normAutofit/>
          </a:bodyPr>
          <a:lstStyle/>
          <a:p>
            <a:pPr indent="0" marL="0">
              <a:buNone/>
            </a:pPr>
            <a:r>
              <a:rPr lang="en-US" sz="2400" b="1" dirty="0">
                <a:solidFill>
                  <a:srgbClr val="F2F0EA"/>
                </a:solidFill>
                <a:latin typeface="Arial" pitchFamily="34" charset="0"/>
                <a:ea typeface="Arial" pitchFamily="34" charset="-122"/>
                <a:cs typeface="Arial" pitchFamily="34" charset="-120"/>
              </a:rPr>
              <a:t>xStocks holders on Solana</a:t>
            </a:r>
            <a:endParaRPr lang="en-US" sz="2400" dirty="0"/>
          </a:p>
        </p:txBody>
      </p:sp>
      <p:sp>
        <p:nvSpPr>
          <p:cNvPr id="7" name="Text 5">
            <a:hlinkClick r:id="rId1" tooltip=""/>
          </p:cNvPr>
          <p:cNvSpPr/>
          <p:nvPr/>
        </p:nvSpPr>
        <p:spPr>
          <a:xfrm>
            <a:off x="978408" y="4700016"/>
            <a:ext cx="4206240" cy="237744"/>
          </a:xfrm>
          <a:prstGeom prst="rect">
            <a:avLst/>
          </a:prstGeom>
          <a:noFill/>
          <a:ln/>
        </p:spPr>
        <p:txBody>
          <a:bodyPr wrap="square" lIns="0" tIns="0" rIns="0" bIns="0" rtlCol="0" anchor="ctr">
            <a:normAutofit/>
          </a:bodyPr>
          <a:lstStyle/>
          <a:p>
            <a:pPr indent="0" marL="0">
              <a:buNone/>
            </a:pPr>
            <a:r>
              <a:rPr lang="en-US" sz="1300" u="sng" dirty="0">
                <a:solidFill>
                  <a:srgbClr val="A8A39A"/>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Solana Foundation, August 2026</a:t>
            </a:r>
            <a:endParaRPr lang="en-US" sz="1300" dirty="0"/>
          </a:p>
        </p:txBody>
      </p:sp>
      <p:sp>
        <p:nvSpPr>
          <p:cNvPr id="8" name="Text 6"/>
          <p:cNvSpPr/>
          <p:nvPr/>
        </p:nvSpPr>
        <p:spPr>
          <a:xfrm>
            <a:off x="6245352" y="2450592"/>
            <a:ext cx="2926080" cy="237744"/>
          </a:xfrm>
          <a:prstGeom prst="rect">
            <a:avLst/>
          </a:prstGeom>
          <a:noFill/>
          <a:ln/>
        </p:spPr>
        <p:txBody>
          <a:bodyPr wrap="square" lIns="0" tIns="0" rIns="0" bIns="0" rtlCol="0" anchor="ctr">
            <a:normAutofit/>
          </a:bodyPr>
          <a:lstStyle/>
          <a:p>
            <a:pPr indent="0" marL="0">
              <a:buNone/>
            </a:pPr>
            <a:r>
              <a:rPr lang="en-US" sz="1100" b="1" spc="150" kern="0" dirty="0">
                <a:solidFill>
                  <a:srgbClr val="D4A84F"/>
                </a:solidFill>
                <a:latin typeface="Arial" pitchFamily="34" charset="0"/>
                <a:ea typeface="Arial" pitchFamily="34" charset="-122"/>
                <a:cs typeface="Arial" pitchFamily="34" charset="-120"/>
              </a:rPr>
              <a:t>FIRST CUSTOMER</a:t>
            </a:r>
            <a:endParaRPr lang="en-US" sz="1100" dirty="0"/>
          </a:p>
        </p:txBody>
      </p:sp>
      <p:sp>
        <p:nvSpPr>
          <p:cNvPr id="9" name="Text 7"/>
          <p:cNvSpPr/>
          <p:nvPr/>
        </p:nvSpPr>
        <p:spPr>
          <a:xfrm>
            <a:off x="6245352" y="2816352"/>
            <a:ext cx="4892040" cy="1600200"/>
          </a:xfrm>
          <a:prstGeom prst="rect">
            <a:avLst/>
          </a:prstGeom>
          <a:noFill/>
          <a:ln/>
        </p:spPr>
        <p:txBody>
          <a:bodyPr wrap="square" lIns="0" tIns="0" rIns="0" bIns="0" rtlCol="0" anchor="t">
            <a:normAutofit/>
          </a:bodyPr>
          <a:lstStyle/>
          <a:p>
            <a:pPr indent="0" marL="0">
              <a:buNone/>
            </a:pPr>
            <a:r>
              <a:rPr lang="en-US" sz="3100" b="1" dirty="0">
                <a:solidFill>
                  <a:srgbClr val="F2F0EA"/>
                </a:solidFill>
                <a:latin typeface="Arial" pitchFamily="34" charset="0"/>
                <a:ea typeface="Arial" pitchFamily="34" charset="-122"/>
                <a:cs typeface="Arial" pitchFamily="34" charset="-120"/>
              </a:rPr>
              <a:t>A SOL trader who wants to split a realized win into stocks and USDC.</a:t>
            </a:r>
            <a:endParaRPr lang="en-US" sz="3100" dirty="0"/>
          </a:p>
        </p:txBody>
      </p:sp>
      <p:sp>
        <p:nvSpPr>
          <p:cNvPr id="10" name="Text 8"/>
          <p:cNvSpPr/>
          <p:nvPr/>
        </p:nvSpPr>
        <p:spPr>
          <a:xfrm>
            <a:off x="658368" y="5715000"/>
            <a:ext cx="10789920" cy="365760"/>
          </a:xfrm>
          <a:prstGeom prst="rect">
            <a:avLst/>
          </a:prstGeom>
          <a:noFill/>
          <a:ln/>
        </p:spPr>
        <p:txBody>
          <a:bodyPr wrap="square" lIns="0" tIns="0" rIns="0" bIns="0" rtlCol="0" anchor="ctr">
            <a:normAutofit/>
          </a:bodyPr>
          <a:lstStyle/>
          <a:p>
            <a:pPr indent="0" marL="0">
              <a:buNone/>
            </a:pPr>
            <a:r>
              <a:rPr lang="en-US" sz="2300" b="1" dirty="0">
                <a:solidFill>
                  <a:srgbClr val="78C49A"/>
                </a:solidFill>
                <a:latin typeface="Arial" pitchFamily="34" charset="0"/>
                <a:ea typeface="Arial" pitchFamily="34" charset="-122"/>
                <a:cs typeface="Arial" pitchFamily="34" charset="-120"/>
              </a:rPr>
              <a:t>2% of 190K = 3,800 potential payers</a:t>
            </a:r>
            <a:endParaRPr lang="en-US" sz="2300" dirty="0"/>
          </a:p>
        </p:txBody>
      </p:sp>
      <p:sp>
        <p:nvSpPr>
          <p:cNvPr id="11" name="Text 9"/>
          <p:cNvSpPr/>
          <p:nvPr/>
        </p:nvSpPr>
        <p:spPr>
          <a:xfrm>
            <a:off x="658368" y="6135624"/>
            <a:ext cx="10789920" cy="256032"/>
          </a:xfrm>
          <a:prstGeom prst="rect">
            <a:avLst/>
          </a:prstGeom>
          <a:noFill/>
          <a:ln/>
        </p:spPr>
        <p:txBody>
          <a:bodyPr wrap="square" lIns="0" tIns="0" rIns="0" bIns="0" rtlCol="0" anchor="ctr">
            <a:normAutofit/>
          </a:bodyPr>
          <a:lstStyle/>
          <a:p>
            <a:pPr indent="0" marL="0">
              <a:buNone/>
            </a:pPr>
            <a:r>
              <a:rPr lang="en-US" sz="1400" dirty="0">
                <a:solidFill>
                  <a:srgbClr val="A8A39A"/>
                </a:solidFill>
                <a:latin typeface="Arial" pitchFamily="34" charset="0"/>
                <a:ea typeface="Arial" pitchFamily="34" charset="-122"/>
                <a:cs typeface="Arial" pitchFamily="34" charset="-120"/>
              </a:rPr>
              <a:t>Illustrative conversion, not measured demand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D10"/>
        </a:solidFill>
      </p:bgPr>
    </p:bg>
    <p:spTree>
      <p:nvGrpSpPr>
        <p:cNvPr id="1" name=""/>
        <p:cNvGrpSpPr/>
        <p:nvPr/>
      </p:nvGrpSpPr>
      <p:grpSpPr>
        <a:xfrm>
          <a:off x="0" y="0"/>
          <a:ext cx="0" cy="0"/>
          <a:chOff x="0" y="0"/>
          <a:chExt cx="0" cy="0"/>
        </a:xfrm>
      </p:grpSpPr>
      <p:sp>
        <p:nvSpPr>
          <p:cNvPr id="2" name="Text 0"/>
          <p:cNvSpPr/>
          <p:nvPr/>
        </p:nvSpPr>
        <p:spPr>
          <a:xfrm>
            <a:off x="594360" y="320040"/>
            <a:ext cx="1463040" cy="320040"/>
          </a:xfrm>
          <a:prstGeom prst="rect">
            <a:avLst/>
          </a:prstGeom>
          <a:noFill/>
          <a:ln/>
        </p:spPr>
        <p:txBody>
          <a:bodyPr wrap="square" lIns="0" tIns="0" rIns="0" bIns="0" rtlCol="0" anchor="ctr">
            <a:normAutofit/>
          </a:bodyPr>
          <a:lstStyle/>
          <a:p>
            <a:pPr indent="0" marL="0">
              <a:buNone/>
            </a:pPr>
            <a:r>
              <a:rPr lang="en-US" sz="1700" b="1" dirty="0">
                <a:solidFill>
                  <a:srgbClr val="F2F0EA"/>
                </a:solidFill>
                <a:latin typeface="Arial" pitchFamily="34" charset="0"/>
                <a:ea typeface="Arial" pitchFamily="34" charset="-122"/>
                <a:cs typeface="Arial" pitchFamily="34" charset="-120"/>
              </a:rPr>
              <a:t>BANKED</a:t>
            </a:r>
            <a:endParaRPr lang="en-US" sz="1700" dirty="0"/>
          </a:p>
        </p:txBody>
      </p:sp>
      <p:sp>
        <p:nvSpPr>
          <p:cNvPr id="3" name="Text 1"/>
          <p:cNvSpPr/>
          <p:nvPr/>
        </p:nvSpPr>
        <p:spPr>
          <a:xfrm>
            <a:off x="621792" y="1051560"/>
            <a:ext cx="10927080" cy="1051560"/>
          </a:xfrm>
          <a:prstGeom prst="rect">
            <a:avLst/>
          </a:prstGeom>
          <a:noFill/>
          <a:ln/>
        </p:spPr>
        <p:txBody>
          <a:bodyPr wrap="square" lIns="0" tIns="0" rIns="0" bIns="0" rtlCol="0" anchor="t">
            <a:normAutofit/>
          </a:bodyPr>
          <a:lstStyle/>
          <a:p>
            <a:pPr indent="0" marL="0">
              <a:buNone/>
            </a:pPr>
            <a:r>
              <a:rPr lang="en-US" sz="4300" b="1" spc="-120" kern="0" dirty="0">
                <a:solidFill>
                  <a:srgbClr val="F2F0EA"/>
                </a:solidFill>
                <a:latin typeface="Arial" pitchFamily="34" charset="0"/>
                <a:ea typeface="Arial" pitchFamily="34" charset="-122"/>
                <a:cs typeface="Arial" pitchFamily="34" charset="-120"/>
              </a:rPr>
              <a:t>Charge for the plan, not more trades.</a:t>
            </a:r>
            <a:endParaRPr lang="en-US" sz="4300" dirty="0"/>
          </a:p>
        </p:txBody>
      </p:sp>
      <p:sp>
        <p:nvSpPr>
          <p:cNvPr id="4" name="Shape 2"/>
          <p:cNvSpPr/>
          <p:nvPr/>
        </p:nvSpPr>
        <p:spPr>
          <a:xfrm>
            <a:off x="640080" y="2258568"/>
            <a:ext cx="5093208" cy="2057400"/>
          </a:xfrm>
          <a:prstGeom prst="rect">
            <a:avLst/>
          </a:prstGeom>
          <a:solidFill>
            <a:srgbClr val="12161B"/>
          </a:solidFill>
          <a:ln w="11430">
            <a:solidFill>
              <a:srgbClr val="303740"/>
            </a:solidFill>
            <a:prstDash val="solid"/>
          </a:ln>
        </p:spPr>
      </p:sp>
      <p:sp>
        <p:nvSpPr>
          <p:cNvPr id="5" name="Text 3"/>
          <p:cNvSpPr/>
          <p:nvPr/>
        </p:nvSpPr>
        <p:spPr>
          <a:xfrm>
            <a:off x="950976" y="2560320"/>
            <a:ext cx="1828800" cy="237744"/>
          </a:xfrm>
          <a:prstGeom prst="rect">
            <a:avLst/>
          </a:prstGeom>
          <a:noFill/>
          <a:ln/>
        </p:spPr>
        <p:txBody>
          <a:bodyPr wrap="square" lIns="0" tIns="0" rIns="0" bIns="0" rtlCol="0" anchor="ctr">
            <a:normAutofit/>
          </a:bodyPr>
          <a:lstStyle/>
          <a:p>
            <a:pPr indent="0" marL="0">
              <a:buNone/>
            </a:pPr>
            <a:r>
              <a:rPr lang="en-US" sz="1100" b="1" spc="150" kern="0" dirty="0">
                <a:solidFill>
                  <a:srgbClr val="D4A84F"/>
                </a:solidFill>
                <a:latin typeface="Arial" pitchFamily="34" charset="0"/>
                <a:ea typeface="Arial" pitchFamily="34" charset="-122"/>
                <a:cs typeface="Arial" pitchFamily="34" charset="-120"/>
              </a:rPr>
              <a:t>FREE</a:t>
            </a:r>
            <a:endParaRPr lang="en-US" sz="1100" dirty="0"/>
          </a:p>
        </p:txBody>
      </p:sp>
      <p:sp>
        <p:nvSpPr>
          <p:cNvPr id="6" name="Text 4"/>
          <p:cNvSpPr/>
          <p:nvPr/>
        </p:nvSpPr>
        <p:spPr>
          <a:xfrm>
            <a:off x="950976" y="2999232"/>
            <a:ext cx="4297680" cy="502920"/>
          </a:xfrm>
          <a:prstGeom prst="rect">
            <a:avLst/>
          </a:prstGeom>
          <a:noFill/>
          <a:ln/>
        </p:spPr>
        <p:txBody>
          <a:bodyPr wrap="square" lIns="0" tIns="0" rIns="0" bIns="0" rtlCol="0" anchor="ctr">
            <a:normAutofit/>
          </a:bodyPr>
          <a:lstStyle/>
          <a:p>
            <a:pPr indent="0" marL="0">
              <a:buNone/>
            </a:pPr>
            <a:r>
              <a:rPr lang="en-US" sz="3100" b="1" dirty="0">
                <a:solidFill>
                  <a:srgbClr val="F2F0EA"/>
                </a:solidFill>
                <a:latin typeface="Arial" pitchFamily="34" charset="0"/>
                <a:ea typeface="Arial" pitchFamily="34" charset="-122"/>
                <a:cs typeface="Arial" pitchFamily="34" charset="-120"/>
              </a:rPr>
              <a:t>Plan and track</a:t>
            </a:r>
            <a:endParaRPr lang="en-US" sz="3100" dirty="0"/>
          </a:p>
        </p:txBody>
      </p:sp>
      <p:sp>
        <p:nvSpPr>
          <p:cNvPr id="7" name="Text 5"/>
          <p:cNvSpPr/>
          <p:nvPr/>
        </p:nvSpPr>
        <p:spPr>
          <a:xfrm>
            <a:off x="950976" y="3767328"/>
            <a:ext cx="4297680" cy="329184"/>
          </a:xfrm>
          <a:prstGeom prst="rect">
            <a:avLst/>
          </a:prstGeom>
          <a:noFill/>
          <a:ln/>
        </p:spPr>
        <p:txBody>
          <a:bodyPr wrap="square" lIns="0" tIns="0" rIns="0" bIns="0" rtlCol="0" anchor="ctr">
            <a:normAutofit/>
          </a:bodyPr>
          <a:lstStyle/>
          <a:p>
            <a:pPr indent="0" marL="0">
              <a:buNone/>
            </a:pPr>
            <a:r>
              <a:rPr lang="en-US" sz="1900" dirty="0">
                <a:solidFill>
                  <a:srgbClr val="A8A39A"/>
                </a:solidFill>
                <a:latin typeface="Arial" pitchFamily="34" charset="0"/>
                <a:ea typeface="Arial" pitchFamily="34" charset="-122"/>
                <a:cs typeface="Arial" pitchFamily="34" charset="-120"/>
              </a:rPr>
              <a:t>Rules and receipts</a:t>
            </a:r>
            <a:endParaRPr lang="en-US" sz="1900" dirty="0"/>
          </a:p>
        </p:txBody>
      </p:sp>
      <p:sp>
        <p:nvSpPr>
          <p:cNvPr id="8" name="Shape 6"/>
          <p:cNvSpPr/>
          <p:nvPr/>
        </p:nvSpPr>
        <p:spPr>
          <a:xfrm>
            <a:off x="6163056" y="2258568"/>
            <a:ext cx="5093208" cy="2057400"/>
          </a:xfrm>
          <a:prstGeom prst="rect">
            <a:avLst/>
          </a:prstGeom>
          <a:solidFill>
            <a:srgbClr val="12161B"/>
          </a:solidFill>
          <a:ln w="11430">
            <a:solidFill>
              <a:srgbClr val="303740"/>
            </a:solidFill>
            <a:prstDash val="solid"/>
          </a:ln>
        </p:spPr>
      </p:sp>
      <p:sp>
        <p:nvSpPr>
          <p:cNvPr id="9" name="Text 7"/>
          <p:cNvSpPr/>
          <p:nvPr/>
        </p:nvSpPr>
        <p:spPr>
          <a:xfrm>
            <a:off x="6473952" y="2560320"/>
            <a:ext cx="3200400" cy="237744"/>
          </a:xfrm>
          <a:prstGeom prst="rect">
            <a:avLst/>
          </a:prstGeom>
          <a:noFill/>
          <a:ln/>
        </p:spPr>
        <p:txBody>
          <a:bodyPr wrap="square" lIns="0" tIns="0" rIns="0" bIns="0" rtlCol="0" anchor="ctr">
            <a:normAutofit/>
          </a:bodyPr>
          <a:lstStyle/>
          <a:p>
            <a:pPr indent="0" marL="0">
              <a:buNone/>
            </a:pPr>
            <a:r>
              <a:rPr lang="en-US" sz="1100" b="1" spc="150" kern="0" dirty="0">
                <a:solidFill>
                  <a:srgbClr val="D4A84F"/>
                </a:solidFill>
                <a:latin typeface="Arial" pitchFamily="34" charset="0"/>
                <a:ea typeface="Arial" pitchFamily="34" charset="-122"/>
                <a:cs typeface="Arial" pitchFamily="34" charset="-120"/>
              </a:rPr>
              <a:t>PRO, PRICE TO TEST</a:t>
            </a:r>
            <a:endParaRPr lang="en-US" sz="1100" dirty="0"/>
          </a:p>
        </p:txBody>
      </p:sp>
      <p:sp>
        <p:nvSpPr>
          <p:cNvPr id="10" name="Text 8"/>
          <p:cNvSpPr/>
          <p:nvPr/>
        </p:nvSpPr>
        <p:spPr>
          <a:xfrm>
            <a:off x="6473952" y="2999232"/>
            <a:ext cx="4297680" cy="502920"/>
          </a:xfrm>
          <a:prstGeom prst="rect">
            <a:avLst/>
          </a:prstGeom>
          <a:noFill/>
          <a:ln/>
        </p:spPr>
        <p:txBody>
          <a:bodyPr wrap="square" lIns="0" tIns="0" rIns="0" bIns="0" rtlCol="0" anchor="ctr">
            <a:normAutofit/>
          </a:bodyPr>
          <a:lstStyle/>
          <a:p>
            <a:pPr indent="0" marL="0">
              <a:buNone/>
            </a:pPr>
            <a:r>
              <a:rPr lang="en-US" sz="3100" b="1" dirty="0">
                <a:solidFill>
                  <a:srgbClr val="D4A84F"/>
                </a:solidFill>
                <a:latin typeface="Arial" pitchFamily="34" charset="0"/>
                <a:ea typeface="Arial" pitchFamily="34" charset="-122"/>
                <a:cs typeface="Arial" pitchFamily="34" charset="-120"/>
              </a:rPr>
              <a:t>$8 / month</a:t>
            </a:r>
            <a:endParaRPr lang="en-US" sz="3100" dirty="0"/>
          </a:p>
        </p:txBody>
      </p:sp>
      <p:sp>
        <p:nvSpPr>
          <p:cNvPr id="11" name="Text 9"/>
          <p:cNvSpPr/>
          <p:nvPr/>
        </p:nvSpPr>
        <p:spPr>
          <a:xfrm>
            <a:off x="6473952" y="3767328"/>
            <a:ext cx="4480560" cy="329184"/>
          </a:xfrm>
          <a:prstGeom prst="rect">
            <a:avLst/>
          </a:prstGeom>
          <a:noFill/>
          <a:ln/>
        </p:spPr>
        <p:txBody>
          <a:bodyPr wrap="square" lIns="0" tIns="0" rIns="0" bIns="0" rtlCol="0" anchor="ctr">
            <a:normAutofit/>
          </a:bodyPr>
          <a:lstStyle/>
          <a:p>
            <a:pPr indent="0" marL="0">
              <a:buNone/>
            </a:pPr>
            <a:r>
              <a:rPr lang="en-US" sz="1900" dirty="0">
                <a:solidFill>
                  <a:srgbClr val="A8A39A"/>
                </a:solidFill>
                <a:latin typeface="Arial" pitchFamily="34" charset="0"/>
                <a:ea typeface="Arial" pitchFamily="34" charset="-122"/>
                <a:cs typeface="Arial" pitchFamily="34" charset="-120"/>
              </a:rPr>
              <a:t>Monitoring and alerts, planned</a:t>
            </a:r>
            <a:endParaRPr lang="en-US" sz="1900" dirty="0"/>
          </a:p>
        </p:txBody>
      </p:sp>
      <p:sp>
        <p:nvSpPr>
          <p:cNvPr id="12" name="Text 10"/>
          <p:cNvSpPr/>
          <p:nvPr/>
        </p:nvSpPr>
        <p:spPr>
          <a:xfrm>
            <a:off x="658368" y="4864608"/>
            <a:ext cx="10744200" cy="420624"/>
          </a:xfrm>
          <a:prstGeom prst="rect">
            <a:avLst/>
          </a:prstGeom>
          <a:noFill/>
          <a:ln/>
        </p:spPr>
        <p:txBody>
          <a:bodyPr wrap="square" lIns="0" tIns="0" rIns="0" bIns="0" rtlCol="0" anchor="ctr">
            <a:normAutofit/>
          </a:bodyPr>
          <a:lstStyle/>
          <a:p>
            <a:pPr indent="0" marL="0">
              <a:buNone/>
            </a:pPr>
            <a:r>
              <a:rPr lang="en-US" sz="2800" b="1" dirty="0">
                <a:solidFill>
                  <a:srgbClr val="F2F0EA"/>
                </a:solidFill>
                <a:latin typeface="Arial" pitchFamily="34" charset="0"/>
                <a:ea typeface="Arial" pitchFamily="34" charset="-122"/>
                <a:cs typeface="Arial" pitchFamily="34" charset="-120"/>
              </a:rPr>
              <a:t>3,800 payers = $30.4K monthly revenue</a:t>
            </a:r>
            <a:endParaRPr lang="en-US" sz="2800" dirty="0"/>
          </a:p>
        </p:txBody>
      </p:sp>
      <p:sp>
        <p:nvSpPr>
          <p:cNvPr id="13" name="Text 11"/>
          <p:cNvSpPr/>
          <p:nvPr/>
        </p:nvSpPr>
        <p:spPr>
          <a:xfrm>
            <a:off x="658368" y="5413248"/>
            <a:ext cx="10744200" cy="365760"/>
          </a:xfrm>
          <a:prstGeom prst="rect">
            <a:avLst/>
          </a:prstGeom>
          <a:noFill/>
          <a:ln/>
        </p:spPr>
        <p:txBody>
          <a:bodyPr wrap="square" lIns="0" tIns="0" rIns="0" bIns="0" rtlCol="0" anchor="ctr">
            <a:normAutofit/>
          </a:bodyPr>
          <a:lstStyle/>
          <a:p>
            <a:pPr indent="0" marL="0">
              <a:buNone/>
            </a:pPr>
            <a:r>
              <a:rPr lang="en-US" sz="2300" b="1" dirty="0">
                <a:solidFill>
                  <a:srgbClr val="78C49A"/>
                </a:solidFill>
                <a:latin typeface="Arial" pitchFamily="34" charset="0"/>
                <a:ea typeface="Arial" pitchFamily="34" charset="-122"/>
                <a:cs typeface="Arial" pitchFamily="34" charset="-120"/>
              </a:rPr>
              <a:t>$6.6K / month after assumed operating costs</a:t>
            </a:r>
            <a:endParaRPr lang="en-US" sz="2300" dirty="0"/>
          </a:p>
        </p:txBody>
      </p:sp>
      <p:sp>
        <p:nvSpPr>
          <p:cNvPr id="14" name="Text 12"/>
          <p:cNvSpPr/>
          <p:nvPr/>
        </p:nvSpPr>
        <p:spPr>
          <a:xfrm>
            <a:off x="658368" y="6016752"/>
            <a:ext cx="10698480" cy="292608"/>
          </a:xfrm>
          <a:prstGeom prst="rect">
            <a:avLst/>
          </a:prstGeom>
          <a:noFill/>
          <a:ln/>
        </p:spPr>
        <p:txBody>
          <a:bodyPr wrap="square" lIns="0" tIns="0" rIns="0" bIns="0" rtlCol="0" anchor="ctr">
            <a:normAutofit/>
          </a:bodyPr>
          <a:lstStyle/>
          <a:p>
            <a:pPr indent="0" marL="0">
              <a:buNone/>
            </a:pPr>
            <a:r>
              <a:rPr lang="en-US" sz="1500" dirty="0">
                <a:solidFill>
                  <a:srgbClr val="A8A39A"/>
                </a:solidFill>
                <a:latin typeface="Arial" pitchFamily="34" charset="0"/>
                <a:ea typeface="Arial" pitchFamily="34" charset="-122"/>
                <a:cs typeface="Arial" pitchFamily="34" charset="-120"/>
              </a:rPr>
              <a:t>Assumes $20K fixed + $1 per payer monthly; excludes acquisition and taxes.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D10"/>
        </a:solidFill>
      </p:bgPr>
    </p:bg>
    <p:spTree>
      <p:nvGrpSpPr>
        <p:cNvPr id="1" name=""/>
        <p:cNvGrpSpPr/>
        <p:nvPr/>
      </p:nvGrpSpPr>
      <p:grpSpPr>
        <a:xfrm>
          <a:off x="0" y="0"/>
          <a:ext cx="0" cy="0"/>
          <a:chOff x="0" y="0"/>
          <a:chExt cx="0" cy="0"/>
        </a:xfrm>
      </p:grpSpPr>
      <p:sp>
        <p:nvSpPr>
          <p:cNvPr id="2" name="Text 0"/>
          <p:cNvSpPr/>
          <p:nvPr/>
        </p:nvSpPr>
        <p:spPr>
          <a:xfrm>
            <a:off x="594360" y="320040"/>
            <a:ext cx="1463040" cy="320040"/>
          </a:xfrm>
          <a:prstGeom prst="rect">
            <a:avLst/>
          </a:prstGeom>
          <a:noFill/>
          <a:ln/>
        </p:spPr>
        <p:txBody>
          <a:bodyPr wrap="square" lIns="0" tIns="0" rIns="0" bIns="0" rtlCol="0" anchor="ctr">
            <a:normAutofit/>
          </a:bodyPr>
          <a:lstStyle/>
          <a:p>
            <a:pPr indent="0" marL="0">
              <a:buNone/>
            </a:pPr>
            <a:r>
              <a:rPr lang="en-US" sz="1700" b="1" dirty="0">
                <a:solidFill>
                  <a:srgbClr val="F2F0EA"/>
                </a:solidFill>
                <a:latin typeface="Arial" pitchFamily="34" charset="0"/>
                <a:ea typeface="Arial" pitchFamily="34" charset="-122"/>
                <a:cs typeface="Arial" pitchFamily="34" charset="-120"/>
              </a:rPr>
              <a:t>BANKED</a:t>
            </a:r>
            <a:endParaRPr lang="en-US" sz="1700" dirty="0"/>
          </a:p>
        </p:txBody>
      </p:sp>
      <p:sp>
        <p:nvSpPr>
          <p:cNvPr id="3" name="Text 1"/>
          <p:cNvSpPr/>
          <p:nvPr/>
        </p:nvSpPr>
        <p:spPr>
          <a:xfrm>
            <a:off x="621792" y="1389888"/>
            <a:ext cx="10698480" cy="950976"/>
          </a:xfrm>
          <a:prstGeom prst="rect">
            <a:avLst/>
          </a:prstGeom>
          <a:noFill/>
          <a:ln/>
        </p:spPr>
        <p:txBody>
          <a:bodyPr wrap="square" lIns="0" tIns="0" rIns="0" bIns="0" rtlCol="0" anchor="ctr">
            <a:normAutofit/>
          </a:bodyPr>
          <a:lstStyle/>
          <a:p>
            <a:pPr indent="0" marL="0">
              <a:buNone/>
            </a:pPr>
            <a:r>
              <a:rPr lang="en-US" sz="5200" b="1" spc="-140" kern="0" dirty="0">
                <a:solidFill>
                  <a:srgbClr val="F2F0EA"/>
                </a:solidFill>
                <a:latin typeface="Arial" pitchFamily="34" charset="0"/>
                <a:ea typeface="Arial" pitchFamily="34" charset="-122"/>
                <a:cs typeface="Arial" pitchFamily="34" charset="-120"/>
              </a:rPr>
              <a:t>Turn one win into a plan.</a:t>
            </a:r>
            <a:endParaRPr lang="en-US" sz="5200" dirty="0"/>
          </a:p>
        </p:txBody>
      </p:sp>
      <p:sp>
        <p:nvSpPr>
          <p:cNvPr id="4" name="Text 2"/>
          <p:cNvSpPr/>
          <p:nvPr/>
        </p:nvSpPr>
        <p:spPr>
          <a:xfrm>
            <a:off x="640080" y="2953512"/>
            <a:ext cx="3291840" cy="448056"/>
          </a:xfrm>
          <a:prstGeom prst="rect">
            <a:avLst/>
          </a:prstGeom>
          <a:noFill/>
          <a:ln/>
        </p:spPr>
        <p:txBody>
          <a:bodyPr wrap="square" lIns="0" tIns="0" rIns="0" bIns="0" rtlCol="0" anchor="ctr">
            <a:normAutofit/>
          </a:bodyPr>
          <a:lstStyle/>
          <a:p>
            <a:pPr indent="0" marL="0">
              <a:buNone/>
            </a:pPr>
            <a:r>
              <a:rPr lang="en-US" sz="2800" b="1" dirty="0">
                <a:solidFill>
                  <a:srgbClr val="D4A84F"/>
                </a:solidFill>
                <a:latin typeface="Arial" pitchFamily="34" charset="0"/>
                <a:ea typeface="Arial" pitchFamily="34" charset="-122"/>
                <a:cs typeface="Arial" pitchFamily="34" charset="-120"/>
              </a:rPr>
              <a:t>Set the split</a:t>
            </a:r>
            <a:endParaRPr lang="en-US" sz="2800" dirty="0"/>
          </a:p>
        </p:txBody>
      </p:sp>
      <p:sp>
        <p:nvSpPr>
          <p:cNvPr id="5" name="Text 3"/>
          <p:cNvSpPr/>
          <p:nvPr/>
        </p:nvSpPr>
        <p:spPr>
          <a:xfrm>
            <a:off x="4315968" y="2953512"/>
            <a:ext cx="3474720" cy="448056"/>
          </a:xfrm>
          <a:prstGeom prst="rect">
            <a:avLst/>
          </a:prstGeom>
          <a:noFill/>
          <a:ln/>
        </p:spPr>
        <p:txBody>
          <a:bodyPr wrap="square" lIns="0" tIns="0" rIns="0" bIns="0" rtlCol="0" anchor="ctr">
            <a:normAutofit/>
          </a:bodyPr>
          <a:lstStyle/>
          <a:p>
            <a:pPr indent="0" marL="0">
              <a:buNone/>
            </a:pPr>
            <a:r>
              <a:rPr lang="en-US" sz="2800" b="1" dirty="0">
                <a:solidFill>
                  <a:srgbClr val="F2F0EA"/>
                </a:solidFill>
                <a:latin typeface="Arial" pitchFamily="34" charset="0"/>
                <a:ea typeface="Arial" pitchFamily="34" charset="-122"/>
                <a:cs typeface="Arial" pitchFamily="34" charset="-120"/>
              </a:rPr>
              <a:t>Sell 1 SOL</a:t>
            </a:r>
            <a:endParaRPr lang="en-US" sz="2800" dirty="0"/>
          </a:p>
        </p:txBody>
      </p:sp>
      <p:sp>
        <p:nvSpPr>
          <p:cNvPr id="6" name="Text 4"/>
          <p:cNvSpPr/>
          <p:nvPr/>
        </p:nvSpPr>
        <p:spPr>
          <a:xfrm>
            <a:off x="8119872" y="2953512"/>
            <a:ext cx="3383280" cy="448056"/>
          </a:xfrm>
          <a:prstGeom prst="rect">
            <a:avLst/>
          </a:prstGeom>
          <a:noFill/>
          <a:ln/>
        </p:spPr>
        <p:txBody>
          <a:bodyPr wrap="square" lIns="0" tIns="0" rIns="0" bIns="0" rtlCol="0" anchor="ctr">
            <a:normAutofit/>
          </a:bodyPr>
          <a:lstStyle/>
          <a:p>
            <a:pPr indent="0" marL="0">
              <a:buNone/>
            </a:pPr>
            <a:r>
              <a:rPr lang="en-US" sz="2800" b="1" dirty="0">
                <a:solidFill>
                  <a:srgbClr val="78C49A"/>
                </a:solidFill>
                <a:latin typeface="Arial" pitchFamily="34" charset="0"/>
                <a:ea typeface="Arial" pitchFamily="34" charset="-122"/>
                <a:cs typeface="Arial" pitchFamily="34" charset="-120"/>
              </a:rPr>
              <a:t>Track each share</a:t>
            </a:r>
            <a:endParaRPr lang="en-US" sz="2800" dirty="0"/>
          </a:p>
        </p:txBody>
      </p:sp>
      <p:sp>
        <p:nvSpPr>
          <p:cNvPr id="7" name="Shape 5"/>
          <p:cNvSpPr/>
          <p:nvPr/>
        </p:nvSpPr>
        <p:spPr>
          <a:xfrm>
            <a:off x="640080" y="4114800"/>
            <a:ext cx="10863072" cy="1188720"/>
          </a:xfrm>
          <a:prstGeom prst="rect">
            <a:avLst/>
          </a:prstGeom>
          <a:solidFill>
            <a:srgbClr val="171C22"/>
          </a:solidFill>
          <a:ln w="11430">
            <a:solidFill>
              <a:srgbClr val="171C22"/>
            </a:solidFill>
            <a:prstDash val="solid"/>
          </a:ln>
        </p:spPr>
      </p:sp>
      <p:sp>
        <p:nvSpPr>
          <p:cNvPr id="8" name="Text 6"/>
          <p:cNvSpPr/>
          <p:nvPr/>
        </p:nvSpPr>
        <p:spPr>
          <a:xfrm>
            <a:off x="960120" y="4443984"/>
            <a:ext cx="10058400" cy="530352"/>
          </a:xfrm>
          <a:prstGeom prst="rect">
            <a:avLst/>
          </a:prstGeom>
          <a:noFill/>
          <a:ln/>
        </p:spPr>
        <p:txBody>
          <a:bodyPr wrap="square" lIns="0" tIns="0" rIns="0" bIns="0" rtlCol="0" anchor="ctr">
            <a:normAutofit/>
          </a:bodyPr>
          <a:lstStyle/>
          <a:p>
            <a:pPr indent="0" marL="0">
              <a:buNone/>
            </a:pPr>
            <a:r>
              <a:rPr lang="en-US" sz="2500" b="1" dirty="0">
                <a:solidFill>
                  <a:srgbClr val="F2F0EA"/>
                </a:solidFill>
                <a:latin typeface="Arial" pitchFamily="34" charset="0"/>
                <a:ea typeface="Arial" pitchFamily="34" charset="-122"/>
                <a:cs typeface="Arial" pitchFamily="34" charset="-120"/>
              </a:rPr>
              <a:t>Demo: SPYx completed. JUP still needs action.</a:t>
            </a:r>
            <a:endParaRPr lang="en-US" sz="2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Banked | Make the exit count</dc:title>
  <dc:subject>Banked exit discipline and money routing</dc:subject>
  <dc:creator>Banked</dc:creator>
  <cp:lastModifiedBy>Banked</cp:lastModifiedBy>
  <cp:revision>1</cp:revision>
  <dcterms:created xsi:type="dcterms:W3CDTF">2026-09-24T11:31:45Z</dcterms:created>
  <dcterms:modified xsi:type="dcterms:W3CDTF">2026-09-24T11:31:45Z</dcterms:modified>
</cp:coreProperties>
</file>